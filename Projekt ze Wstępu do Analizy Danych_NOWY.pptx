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5" r:id="rId6"/>
    <p:sldId id="262" r:id="rId7"/>
    <p:sldId id="258" r:id="rId8"/>
    <p:sldId id="263" r:id="rId9"/>
    <p:sldId id="264" r:id="rId10"/>
    <p:sldId id="266" r:id="rId11"/>
    <p:sldId id="267" r:id="rId12"/>
    <p:sldId id="268" r:id="rId13"/>
    <p:sldId id="269" r:id="rId14"/>
    <p:sldId id="260"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ksymilian Świder" initials="MŚ" lastIdx="2" clrIdx="0">
    <p:extLst>
      <p:ext uri="{19B8F6BF-5375-455C-9EA6-DF929625EA0E}">
        <p15:presenceInfo xmlns:p15="http://schemas.microsoft.com/office/powerpoint/2012/main" userId="S::maks@student.agh.edu.pl::cb2e7a5d-f7a0-461d-8c82-93f1a637f4e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5" d="100"/>
          <a:sy n="115" d="100"/>
        </p:scale>
        <p:origin x="4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Bąk" userId="cd26fae028421346" providerId="LiveId" clId="{983FDB50-A76B-49B8-A1E1-381B52190A40}"/>
    <pc:docChg chg="undo redo custSel addSld modSld sldOrd">
      <pc:chgData name="Sebastian Bąk" userId="cd26fae028421346" providerId="LiveId" clId="{983FDB50-A76B-49B8-A1E1-381B52190A40}" dt="2026-01-14T17:05:44.617" v="3617" actId="27309"/>
      <pc:docMkLst>
        <pc:docMk/>
      </pc:docMkLst>
      <pc:sldChg chg="modSp mod">
        <pc:chgData name="Sebastian Bąk" userId="cd26fae028421346" providerId="LiveId" clId="{983FDB50-A76B-49B8-A1E1-381B52190A40}" dt="2026-01-14T16:54:45.586" v="2579" actId="20577"/>
        <pc:sldMkLst>
          <pc:docMk/>
          <pc:sldMk cId="2110262518" sldId="257"/>
        </pc:sldMkLst>
        <pc:spChg chg="mod">
          <ac:chgData name="Sebastian Bąk" userId="cd26fae028421346" providerId="LiveId" clId="{983FDB50-A76B-49B8-A1E1-381B52190A40}" dt="2026-01-14T16:54:45.586" v="2579" actId="20577"/>
          <ac:spMkLst>
            <pc:docMk/>
            <pc:sldMk cId="2110262518" sldId="257"/>
            <ac:spMk id="3" creationId="{F4242744-7B19-4716-98F1-F9B4C3148E16}"/>
          </ac:spMkLst>
        </pc:spChg>
      </pc:sldChg>
      <pc:sldChg chg="ord">
        <pc:chgData name="Sebastian Bąk" userId="cd26fae028421346" providerId="LiveId" clId="{983FDB50-A76B-49B8-A1E1-381B52190A40}" dt="2026-01-14T16:54:48.561" v="2581"/>
        <pc:sldMkLst>
          <pc:docMk/>
          <pc:sldMk cId="61390091" sldId="259"/>
        </pc:sldMkLst>
      </pc:sldChg>
      <pc:sldChg chg="modSp mod">
        <pc:chgData name="Sebastian Bąk" userId="cd26fae028421346" providerId="LiveId" clId="{983FDB50-A76B-49B8-A1E1-381B52190A40}" dt="2026-01-14T16:58:21.052" v="3160" actId="20577"/>
        <pc:sldMkLst>
          <pc:docMk/>
          <pc:sldMk cId="1425777593" sldId="261"/>
        </pc:sldMkLst>
        <pc:spChg chg="mod">
          <ac:chgData name="Sebastian Bąk" userId="cd26fae028421346" providerId="LiveId" clId="{983FDB50-A76B-49B8-A1E1-381B52190A40}" dt="2026-01-14T16:58:21.052" v="3160" actId="20577"/>
          <ac:spMkLst>
            <pc:docMk/>
            <pc:sldMk cId="1425777593" sldId="261"/>
            <ac:spMk id="14" creationId="{1046A88A-22FA-4EC8-BDC8-35D670FDB560}"/>
          </ac:spMkLst>
        </pc:spChg>
      </pc:sldChg>
      <pc:sldChg chg="addSp delSp modSp new mod">
        <pc:chgData name="Sebastian Bąk" userId="cd26fae028421346" providerId="LiveId" clId="{983FDB50-A76B-49B8-A1E1-381B52190A40}" dt="2026-01-14T16:03:09.129" v="1415" actId="27636"/>
        <pc:sldMkLst>
          <pc:docMk/>
          <pc:sldMk cId="1152810532" sldId="263"/>
        </pc:sldMkLst>
        <pc:spChg chg="del mod">
          <ac:chgData name="Sebastian Bąk" userId="cd26fae028421346" providerId="LiveId" clId="{983FDB50-A76B-49B8-A1E1-381B52190A40}" dt="2026-01-14T15:56:55.720" v="494" actId="478"/>
          <ac:spMkLst>
            <pc:docMk/>
            <pc:sldMk cId="1152810532" sldId="263"/>
            <ac:spMk id="2" creationId="{ADE7879B-CDCF-57BD-EC46-A7FEBCEDE9C6}"/>
          </ac:spMkLst>
        </pc:spChg>
        <pc:spChg chg="mod">
          <ac:chgData name="Sebastian Bąk" userId="cd26fae028421346" providerId="LiveId" clId="{983FDB50-A76B-49B8-A1E1-381B52190A40}" dt="2026-01-14T15:57:50.072" v="528" actId="14100"/>
          <ac:spMkLst>
            <pc:docMk/>
            <pc:sldMk cId="1152810532" sldId="263"/>
            <ac:spMk id="3" creationId="{50896241-20E8-FA78-9F48-10C8F89DD714}"/>
          </ac:spMkLst>
        </pc:spChg>
        <pc:spChg chg="add del mod">
          <ac:chgData name="Sebastian Bąk" userId="cd26fae028421346" providerId="LiveId" clId="{983FDB50-A76B-49B8-A1E1-381B52190A40}" dt="2026-01-14T15:56:57.832" v="496" actId="478"/>
          <ac:spMkLst>
            <pc:docMk/>
            <pc:sldMk cId="1152810532" sldId="263"/>
            <ac:spMk id="5" creationId="{7491846B-4ECF-58EC-9197-9888BA911F33}"/>
          </ac:spMkLst>
        </pc:spChg>
        <pc:spChg chg="add mod">
          <ac:chgData name="Sebastian Bąk" userId="cd26fae028421346" providerId="LiveId" clId="{983FDB50-A76B-49B8-A1E1-381B52190A40}" dt="2026-01-14T15:57:44.136" v="527" actId="255"/>
          <ac:spMkLst>
            <pc:docMk/>
            <pc:sldMk cId="1152810532" sldId="263"/>
            <ac:spMk id="6" creationId="{974E9C22-8938-C642-0A4E-F670A374B284}"/>
          </ac:spMkLst>
        </pc:spChg>
        <pc:spChg chg="add mod">
          <ac:chgData name="Sebastian Bąk" userId="cd26fae028421346" providerId="LiveId" clId="{983FDB50-A76B-49B8-A1E1-381B52190A40}" dt="2026-01-14T15:58:17.424" v="563" actId="20577"/>
          <ac:spMkLst>
            <pc:docMk/>
            <pc:sldMk cId="1152810532" sldId="263"/>
            <ac:spMk id="7" creationId="{9D459485-61C9-1761-7B0F-151712072CDA}"/>
          </ac:spMkLst>
        </pc:spChg>
        <pc:spChg chg="add mod">
          <ac:chgData name="Sebastian Bąk" userId="cd26fae028421346" providerId="LiveId" clId="{983FDB50-A76B-49B8-A1E1-381B52190A40}" dt="2026-01-14T16:03:09.129" v="1415" actId="27636"/>
          <ac:spMkLst>
            <pc:docMk/>
            <pc:sldMk cId="1152810532" sldId="263"/>
            <ac:spMk id="8" creationId="{06460BF4-1368-A6C8-8045-376DDB4C512B}"/>
          </ac:spMkLst>
        </pc:spChg>
      </pc:sldChg>
      <pc:sldChg chg="addSp delSp modSp new mod">
        <pc:chgData name="Sebastian Bąk" userId="cd26fae028421346" providerId="LiveId" clId="{983FDB50-A76B-49B8-A1E1-381B52190A40}" dt="2026-01-14T17:05:44.617" v="3617" actId="27309"/>
        <pc:sldMkLst>
          <pc:docMk/>
          <pc:sldMk cId="3182988011" sldId="264"/>
        </pc:sldMkLst>
        <pc:spChg chg="mod">
          <ac:chgData name="Sebastian Bąk" userId="cd26fae028421346" providerId="LiveId" clId="{983FDB50-A76B-49B8-A1E1-381B52190A40}" dt="2026-01-14T16:09:39.503" v="1501" actId="14100"/>
          <ac:spMkLst>
            <pc:docMk/>
            <pc:sldMk cId="3182988011" sldId="264"/>
            <ac:spMk id="2" creationId="{76C66B51-BAD6-9E85-02C3-220E1C89485E}"/>
          </ac:spMkLst>
        </pc:spChg>
        <pc:spChg chg="mod">
          <ac:chgData name="Sebastian Bąk" userId="cd26fae028421346" providerId="LiveId" clId="{983FDB50-A76B-49B8-A1E1-381B52190A40}" dt="2026-01-14T16:16:31.960" v="2474" actId="14100"/>
          <ac:spMkLst>
            <pc:docMk/>
            <pc:sldMk cId="3182988011" sldId="264"/>
            <ac:spMk id="3" creationId="{830C8834-B752-7257-A59A-D43507701AAA}"/>
          </ac:spMkLst>
        </pc:spChg>
        <pc:spChg chg="add del mod">
          <ac:chgData name="Sebastian Bąk" userId="cd26fae028421346" providerId="LiveId" clId="{983FDB50-A76B-49B8-A1E1-381B52190A40}" dt="2026-01-14T16:32:32.598" v="2479"/>
          <ac:spMkLst>
            <pc:docMk/>
            <pc:sldMk cId="3182988011" sldId="264"/>
            <ac:spMk id="6" creationId="{1ED2DB2B-3F86-77C7-B159-28E04204C6DD}"/>
          </ac:spMkLst>
        </pc:spChg>
        <pc:spChg chg="add mod">
          <ac:chgData name="Sebastian Bąk" userId="cd26fae028421346" providerId="LiveId" clId="{983FDB50-A76B-49B8-A1E1-381B52190A40}" dt="2026-01-14T16:33:21.756" v="2533" actId="1076"/>
          <ac:spMkLst>
            <pc:docMk/>
            <pc:sldMk cId="3182988011" sldId="264"/>
            <ac:spMk id="7" creationId="{777DFB64-5ABB-E2F4-0A3E-31E450C46249}"/>
          </ac:spMkLst>
        </pc:spChg>
        <pc:graphicFrameChg chg="add del modGraphic">
          <ac:chgData name="Sebastian Bąk" userId="cd26fae028421346" providerId="LiveId" clId="{983FDB50-A76B-49B8-A1E1-381B52190A40}" dt="2026-01-14T17:05:44.617" v="3617" actId="27309"/>
          <ac:graphicFrameMkLst>
            <pc:docMk/>
            <pc:sldMk cId="3182988011" sldId="264"/>
            <ac:graphicFrameMk id="9" creationId="{09E9D261-8AFD-3FCC-8CEB-E993E251EDC0}"/>
          </ac:graphicFrameMkLst>
        </pc:graphicFrameChg>
        <pc:picChg chg="add mod">
          <ac:chgData name="Sebastian Bąk" userId="cd26fae028421346" providerId="LiveId" clId="{983FDB50-A76B-49B8-A1E1-381B52190A40}" dt="2026-01-14T16:23:20.118" v="2476" actId="1076"/>
          <ac:picMkLst>
            <pc:docMk/>
            <pc:sldMk cId="3182988011" sldId="264"/>
            <ac:picMk id="5" creationId="{A7B70D67-1E10-11E4-0BC4-0D12AC3FC41D}"/>
          </ac:picMkLst>
        </pc:picChg>
      </pc:sldChg>
      <pc:sldChg chg="addSp delSp modSp new mod">
        <pc:chgData name="Sebastian Bąk" userId="cd26fae028421346" providerId="LiveId" clId="{983FDB50-A76B-49B8-A1E1-381B52190A40}" dt="2026-01-14T17:05:04.970" v="3615" actId="27309"/>
        <pc:sldMkLst>
          <pc:docMk/>
          <pc:sldMk cId="4175817999" sldId="265"/>
        </pc:sldMkLst>
        <pc:spChg chg="mod">
          <ac:chgData name="Sebastian Bąk" userId="cd26fae028421346" providerId="LiveId" clId="{983FDB50-A76B-49B8-A1E1-381B52190A40}" dt="2026-01-14T16:55:09.452" v="2624" actId="14100"/>
          <ac:spMkLst>
            <pc:docMk/>
            <pc:sldMk cId="4175817999" sldId="265"/>
            <ac:spMk id="2" creationId="{53334C6E-1DCD-7782-65A7-05B50522E300}"/>
          </ac:spMkLst>
        </pc:spChg>
        <pc:spChg chg="mod">
          <ac:chgData name="Sebastian Bąk" userId="cd26fae028421346" providerId="LiveId" clId="{983FDB50-A76B-49B8-A1E1-381B52190A40}" dt="2026-01-14T17:04:53.045" v="3613" actId="1076"/>
          <ac:spMkLst>
            <pc:docMk/>
            <pc:sldMk cId="4175817999" sldId="265"/>
            <ac:spMk id="3" creationId="{8911E496-E258-DE5D-0AA6-775FDA561988}"/>
          </ac:spMkLst>
        </pc:spChg>
        <pc:graphicFrameChg chg="add del modGraphic">
          <ac:chgData name="Sebastian Bąk" userId="cd26fae028421346" providerId="LiveId" clId="{983FDB50-A76B-49B8-A1E1-381B52190A40}" dt="2026-01-14T17:05:04.970" v="3615" actId="27309"/>
          <ac:graphicFrameMkLst>
            <pc:docMk/>
            <pc:sldMk cId="4175817999" sldId="265"/>
            <ac:graphicFrameMk id="5" creationId="{5BF510C6-6CC9-73F8-3AD9-0B4FED87877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pl-PL"/>
              <a:t>Kliknij, aby edytować styl</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US" dirty="0"/>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3708480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pl-PL"/>
              <a:t>Kliknij, aby edytować styl</a:t>
            </a:r>
            <a:endParaRPr lang="en-US" dirty="0"/>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2260157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pl-PL"/>
              <a:t>Kliknij, aby edytować styl</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2154764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48DE62DE-7EAA-41A5-BBB4-4B731780F46A}" type="datetimeFigureOut">
              <a:rPr lang="pl-PL" smtClean="0"/>
              <a:t>16.01.2026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1430740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l-PL"/>
              <a:t>Kliknij, aby edytować styl</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48DE62DE-7EAA-41A5-BBB4-4B731780F46A}" type="datetimeFigureOut">
              <a:rPr lang="pl-PL" smtClean="0"/>
              <a:t>16.01.2026</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3205960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pl-PL"/>
              <a:t>Kliknij, aby edytować styl</a:t>
            </a:r>
            <a:endParaRPr lang="en-US" dirty="0"/>
          </a:p>
        </p:txBody>
      </p:sp>
      <p:sp>
        <p:nvSpPr>
          <p:cNvPr id="3" name="Date Placeholder 2"/>
          <p:cNvSpPr>
            <a:spLocks noGrp="1"/>
          </p:cNvSpPr>
          <p:nvPr>
            <p:ph type="dt" sz="half" idx="10"/>
          </p:nvPr>
        </p:nvSpPr>
        <p:spPr/>
        <p:txBody>
          <a:bodyPr/>
          <a:lstStyle/>
          <a:p>
            <a:fld id="{48DE62DE-7EAA-41A5-BBB4-4B731780F46A}" type="datetimeFigureOut">
              <a:rPr lang="pl-PL" smtClean="0"/>
              <a:t>16.01.2026</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2540260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DE62DE-7EAA-41A5-BBB4-4B731780F46A}" type="datetimeFigureOut">
              <a:rPr lang="pl-PL" smtClean="0"/>
              <a:t>16.01.2026</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2095948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pl-PL"/>
              <a:t>Kliknij, aby edytować styl</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48DE62DE-7EAA-41A5-BBB4-4B731780F46A}" type="datetimeFigureOut">
              <a:rPr lang="pl-PL" smtClean="0"/>
              <a:t>16.01.2026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3846505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pl-PL"/>
              <a:t>Kliknij, aby edytować styl</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48DE62DE-7EAA-41A5-BBB4-4B731780F46A}" type="datetimeFigureOut">
              <a:rPr lang="pl-PL" smtClean="0"/>
              <a:t>16.01.2026</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327405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ytuł i podpis">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pl-PL"/>
              <a:t>Kliknij, aby edytować styl</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1562424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ferta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l-PL"/>
              <a:t>Kliknij, aby edytować styl</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l-PL"/>
              <a:t>Kliknij, aby edytować style wzorca tekstu</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99513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Karta nazwy">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pl-PL"/>
              <a:t>Kliknij, aby edytować styl</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114697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arta nazwy cytatu">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pl-PL"/>
              <a:t>Kliknij, aby edytować styl</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l-PL"/>
              <a:t>Kliknij, aby edytować style wzorca tekstu</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13993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rawda lub fałsz">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pl-PL"/>
              <a:t>Kliknij, aby edytować styl</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l-PL"/>
              <a:t>Kliknij, aby edytować style wzorca tekstu</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238323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1759383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pl-PL"/>
              <a:t>Kliknij, aby edytować styl</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48DE62DE-7EAA-41A5-BBB4-4B731780F46A}" type="datetimeFigureOut">
              <a:rPr lang="pl-PL" smtClean="0"/>
              <a:t>16.01.2026</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849FF1CF-211F-4DFE-AF10-FE0A9E9A55A6}" type="slidenum">
              <a:rPr lang="pl-PL" smtClean="0"/>
              <a:t>‹#›</a:t>
            </a:fld>
            <a:endParaRPr lang="pl-PL"/>
          </a:p>
        </p:txBody>
      </p:sp>
    </p:spTree>
    <p:extLst>
      <p:ext uri="{BB962C8B-B14F-4D97-AF65-F5344CB8AC3E}">
        <p14:creationId xmlns:p14="http://schemas.microsoft.com/office/powerpoint/2010/main" val="3982849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pl-PL"/>
              <a:t>Kliknij, aby edytować styl</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DE62DE-7EAA-41A5-BBB4-4B731780F46A}" type="datetimeFigureOut">
              <a:rPr lang="pl-PL" smtClean="0"/>
              <a:t>16.01.2026</a:t>
            </a:fld>
            <a:endParaRPr lang="pl-P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pl-P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49FF1CF-211F-4DFE-AF10-FE0A9E9A55A6}" type="slidenum">
              <a:rPr lang="pl-PL" smtClean="0"/>
              <a:t>‹#›</a:t>
            </a:fld>
            <a:endParaRPr lang="pl-PL"/>
          </a:p>
        </p:txBody>
      </p:sp>
    </p:spTree>
    <p:extLst>
      <p:ext uri="{BB962C8B-B14F-4D97-AF65-F5344CB8AC3E}">
        <p14:creationId xmlns:p14="http://schemas.microsoft.com/office/powerpoint/2010/main" val="1537722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 Target="slide4.xml"/><Relationship Id="rId7"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 Id="rId9" Type="http://schemas.openxmlformats.org/officeDocument/2006/relationships/slide" Target="slide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348F4A3-E0D2-457D-BA39-D69FA658F455}"/>
              </a:ext>
            </a:extLst>
          </p:cNvPr>
          <p:cNvSpPr>
            <a:spLocks noGrp="1"/>
          </p:cNvSpPr>
          <p:nvPr>
            <p:ph type="ctrTitle"/>
          </p:nvPr>
        </p:nvSpPr>
        <p:spPr>
          <a:xfrm>
            <a:off x="1507067" y="1312334"/>
            <a:ext cx="7766936" cy="1646302"/>
          </a:xfrm>
        </p:spPr>
        <p:txBody>
          <a:bodyPr/>
          <a:lstStyle/>
          <a:p>
            <a:r>
              <a:rPr lang="pl-PL" dirty="0"/>
              <a:t>Projekt ze Wstępu do Analizy Danych</a:t>
            </a:r>
          </a:p>
        </p:txBody>
      </p:sp>
      <p:sp>
        <p:nvSpPr>
          <p:cNvPr id="3" name="Podtytuł 2">
            <a:extLst>
              <a:ext uri="{FF2B5EF4-FFF2-40B4-BE49-F238E27FC236}">
                <a16:creationId xmlns:a16="http://schemas.microsoft.com/office/drawing/2014/main" id="{89F0790F-83B7-4DD9-A30C-AE8EC1597380}"/>
              </a:ext>
            </a:extLst>
          </p:cNvPr>
          <p:cNvSpPr>
            <a:spLocks noGrp="1"/>
          </p:cNvSpPr>
          <p:nvPr>
            <p:ph type="subTitle" idx="1"/>
          </p:nvPr>
        </p:nvSpPr>
        <p:spPr>
          <a:xfrm>
            <a:off x="1507067" y="3350915"/>
            <a:ext cx="7766936" cy="1096899"/>
          </a:xfrm>
        </p:spPr>
        <p:txBody>
          <a:bodyPr>
            <a:normAutofit/>
          </a:bodyPr>
          <a:lstStyle/>
          <a:p>
            <a:r>
              <a:rPr lang="pl-PL" sz="2000" b="1" dirty="0"/>
              <a:t>Przewidywanie osłabień czempionów na podstawie pięciu poprzednich patchy w grze League of Legends</a:t>
            </a:r>
          </a:p>
        </p:txBody>
      </p:sp>
      <p:sp>
        <p:nvSpPr>
          <p:cNvPr id="4" name="Podtytuł 2">
            <a:extLst>
              <a:ext uri="{FF2B5EF4-FFF2-40B4-BE49-F238E27FC236}">
                <a16:creationId xmlns:a16="http://schemas.microsoft.com/office/drawing/2014/main" id="{04C27E9D-9305-4CA6-BFFE-505F8476F365}"/>
              </a:ext>
            </a:extLst>
          </p:cNvPr>
          <p:cNvSpPr txBox="1">
            <a:spLocks/>
          </p:cNvSpPr>
          <p:nvPr/>
        </p:nvSpPr>
        <p:spPr>
          <a:xfrm>
            <a:off x="1617134" y="4736633"/>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endParaRPr lang="pl-PL" dirty="0"/>
          </a:p>
        </p:txBody>
      </p:sp>
      <p:sp>
        <p:nvSpPr>
          <p:cNvPr id="5" name="Podtytuł 2">
            <a:extLst>
              <a:ext uri="{FF2B5EF4-FFF2-40B4-BE49-F238E27FC236}">
                <a16:creationId xmlns:a16="http://schemas.microsoft.com/office/drawing/2014/main" id="{4882C21D-36B5-43FE-B0BD-A8A2EF9F431C}"/>
              </a:ext>
            </a:extLst>
          </p:cNvPr>
          <p:cNvSpPr txBox="1">
            <a:spLocks/>
          </p:cNvSpPr>
          <p:nvPr/>
        </p:nvSpPr>
        <p:spPr>
          <a:xfrm>
            <a:off x="1507067" y="4736630"/>
            <a:ext cx="2446866" cy="1579503"/>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r>
              <a:rPr lang="pl-PL" dirty="0"/>
              <a:t>Przygotowany przez:</a:t>
            </a:r>
          </a:p>
          <a:p>
            <a:pPr algn="l"/>
            <a:r>
              <a:rPr lang="pl-PL" dirty="0"/>
              <a:t>-Kacper Bryda,</a:t>
            </a:r>
          </a:p>
          <a:p>
            <a:pPr algn="l"/>
            <a:r>
              <a:rPr lang="pl-PL" dirty="0"/>
              <a:t>-Sebastian Bąk,</a:t>
            </a:r>
          </a:p>
          <a:p>
            <a:pPr algn="l"/>
            <a:r>
              <a:rPr lang="pl-PL" dirty="0"/>
              <a:t>-Rafał Kiełbasa.</a:t>
            </a:r>
          </a:p>
        </p:txBody>
      </p:sp>
      <p:sp>
        <p:nvSpPr>
          <p:cNvPr id="6" name="Podtytuł 2">
            <a:extLst>
              <a:ext uri="{FF2B5EF4-FFF2-40B4-BE49-F238E27FC236}">
                <a16:creationId xmlns:a16="http://schemas.microsoft.com/office/drawing/2014/main" id="{E75849E9-A892-47FE-9D0B-E7395BE96362}"/>
              </a:ext>
            </a:extLst>
          </p:cNvPr>
          <p:cNvSpPr txBox="1">
            <a:spLocks/>
          </p:cNvSpPr>
          <p:nvPr/>
        </p:nvSpPr>
        <p:spPr>
          <a:xfrm>
            <a:off x="7047271" y="4740393"/>
            <a:ext cx="2446866" cy="1579503"/>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endParaRPr lang="pl-PL" dirty="0"/>
          </a:p>
        </p:txBody>
      </p:sp>
      <p:sp>
        <p:nvSpPr>
          <p:cNvPr id="7" name="Podtytuł 2">
            <a:extLst>
              <a:ext uri="{FF2B5EF4-FFF2-40B4-BE49-F238E27FC236}">
                <a16:creationId xmlns:a16="http://schemas.microsoft.com/office/drawing/2014/main" id="{D4183809-9040-4C7E-B204-53A915A9B152}"/>
              </a:ext>
            </a:extLst>
          </p:cNvPr>
          <p:cNvSpPr txBox="1">
            <a:spLocks/>
          </p:cNvSpPr>
          <p:nvPr/>
        </p:nvSpPr>
        <p:spPr>
          <a:xfrm>
            <a:off x="7047271" y="5833529"/>
            <a:ext cx="2446866" cy="490127"/>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r>
              <a:rPr lang="pl-PL" dirty="0"/>
              <a:t>14.01.2026r.</a:t>
            </a:r>
          </a:p>
        </p:txBody>
      </p:sp>
    </p:spTree>
    <p:extLst>
      <p:ext uri="{BB962C8B-B14F-4D97-AF65-F5344CB8AC3E}">
        <p14:creationId xmlns:p14="http://schemas.microsoft.com/office/powerpoint/2010/main" val="305051545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7D585FB-B961-482E-961D-B9F939FCCEE6}"/>
              </a:ext>
            </a:extLst>
          </p:cNvPr>
          <p:cNvSpPr>
            <a:spLocks noGrp="1"/>
          </p:cNvSpPr>
          <p:nvPr>
            <p:ph type="title"/>
          </p:nvPr>
        </p:nvSpPr>
        <p:spPr>
          <a:xfrm>
            <a:off x="677335" y="1007534"/>
            <a:ext cx="8596668" cy="1826581"/>
          </a:xfrm>
        </p:spPr>
        <p:txBody>
          <a:bodyPr anchor="t"/>
          <a:lstStyle/>
          <a:p>
            <a:r>
              <a:rPr lang="pl-PL" dirty="0"/>
              <a:t>Spis treści</a:t>
            </a:r>
          </a:p>
        </p:txBody>
      </p:sp>
      <p:sp>
        <p:nvSpPr>
          <p:cNvPr id="3" name="Symbol zastępczy tekstu 2">
            <a:extLst>
              <a:ext uri="{FF2B5EF4-FFF2-40B4-BE49-F238E27FC236}">
                <a16:creationId xmlns:a16="http://schemas.microsoft.com/office/drawing/2014/main" id="{F4242744-7B19-4716-98F1-F9B4C3148E16}"/>
              </a:ext>
            </a:extLst>
          </p:cNvPr>
          <p:cNvSpPr>
            <a:spLocks noGrp="1"/>
          </p:cNvSpPr>
          <p:nvPr>
            <p:ph type="body" idx="1"/>
          </p:nvPr>
        </p:nvSpPr>
        <p:spPr>
          <a:xfrm>
            <a:off x="677335" y="1784247"/>
            <a:ext cx="8596668" cy="4193219"/>
          </a:xfrm>
        </p:spPr>
        <p:txBody>
          <a:bodyPr/>
          <a:lstStyle/>
          <a:p>
            <a:pPr marL="342900" indent="-342900">
              <a:buFont typeface="Arial" panose="020B0604020202020204" pitchFamily="34" charset="0"/>
              <a:buChar char="•"/>
            </a:pPr>
            <a:r>
              <a:rPr lang="pl-PL" dirty="0">
                <a:hlinkClick r:id="rId2" action="ppaction://hlinksldjump"/>
              </a:rPr>
              <a:t>Wprowadzenie projektu</a:t>
            </a:r>
            <a:r>
              <a:rPr lang="pl-PL" dirty="0"/>
              <a:t>,</a:t>
            </a:r>
          </a:p>
          <a:p>
            <a:pPr marL="342900" indent="-342900">
              <a:buFont typeface="Arial" panose="020B0604020202020204" pitchFamily="34" charset="0"/>
              <a:buChar char="•"/>
            </a:pPr>
            <a:r>
              <a:rPr lang="pl-PL" dirty="0">
                <a:hlinkClick r:id="rId3" action="ppaction://hlinksldjump"/>
              </a:rPr>
              <a:t>Opis zbioru danych</a:t>
            </a:r>
            <a:r>
              <a:rPr lang="pl-PL" dirty="0"/>
              <a:t>,</a:t>
            </a:r>
          </a:p>
          <a:p>
            <a:pPr marL="342900" indent="-342900">
              <a:buFont typeface="Arial" panose="020B0604020202020204" pitchFamily="34" charset="0"/>
              <a:buChar char="•"/>
            </a:pPr>
            <a:r>
              <a:rPr lang="pl-PL" dirty="0">
                <a:hlinkClick r:id="rId4" action="ppaction://hlinksldjump"/>
              </a:rPr>
              <a:t>Przygotowanie zbioru danych do predykcji</a:t>
            </a:r>
            <a:r>
              <a:rPr lang="pl-PL" dirty="0"/>
              <a:t>,</a:t>
            </a:r>
          </a:p>
          <a:p>
            <a:pPr marL="342900" indent="-342900">
              <a:buFont typeface="Arial" panose="020B0604020202020204" pitchFamily="34" charset="0"/>
              <a:buChar char="•"/>
            </a:pPr>
            <a:r>
              <a:rPr lang="pl-PL" dirty="0">
                <a:hlinkClick r:id="rId5" action="ppaction://hlinksldjump"/>
              </a:rPr>
              <a:t>Cele analityczne i biznesowe</a:t>
            </a:r>
            <a:r>
              <a:rPr lang="pl-PL" dirty="0"/>
              <a:t>,</a:t>
            </a:r>
          </a:p>
          <a:p>
            <a:pPr marL="342900" indent="-342900">
              <a:buFont typeface="Arial" panose="020B0604020202020204" pitchFamily="34" charset="0"/>
              <a:buChar char="•"/>
            </a:pPr>
            <a:r>
              <a:rPr lang="pl-PL" dirty="0">
                <a:hlinkClick r:id="rId6" action="ppaction://hlinksldjump"/>
              </a:rPr>
              <a:t>Uzasadnienie odrzucenia innych modeli</a:t>
            </a:r>
            <a:r>
              <a:rPr lang="pl-PL" dirty="0"/>
              <a:t>,</a:t>
            </a:r>
          </a:p>
          <a:p>
            <a:pPr marL="342900" indent="-342900">
              <a:buFont typeface="Arial" panose="020B0604020202020204" pitchFamily="34" charset="0"/>
              <a:buChar char="•"/>
            </a:pPr>
            <a:r>
              <a:rPr lang="pl-PL" dirty="0">
                <a:hlinkClick r:id="rId6" action="ppaction://hlinksldjump"/>
              </a:rPr>
              <a:t>Uzasadnienie wyboru konkretnego modelu</a:t>
            </a:r>
            <a:r>
              <a:rPr lang="pl-PL" dirty="0"/>
              <a:t>,</a:t>
            </a:r>
          </a:p>
          <a:p>
            <a:pPr marL="342900" indent="-342900">
              <a:buFont typeface="Arial" panose="020B0604020202020204" pitchFamily="34" charset="0"/>
              <a:buChar char="•"/>
            </a:pPr>
            <a:r>
              <a:rPr lang="pl-PL" dirty="0">
                <a:hlinkClick r:id="rId7" action="ppaction://hlinksldjump"/>
              </a:rPr>
              <a:t>Specyfikacja wybranego modelu</a:t>
            </a:r>
            <a:r>
              <a:rPr lang="pl-PL" dirty="0"/>
              <a:t>,</a:t>
            </a:r>
          </a:p>
          <a:p>
            <a:pPr marL="342900" indent="-342900">
              <a:buFont typeface="Arial" panose="020B0604020202020204" pitchFamily="34" charset="0"/>
              <a:buChar char="•"/>
            </a:pPr>
            <a:r>
              <a:rPr lang="pl-PL" dirty="0">
                <a:hlinkClick r:id="rId8" action="ppaction://hlinksldjump"/>
              </a:rPr>
              <a:t>Weryfikacja jakości działania wybranego modelu</a:t>
            </a:r>
            <a:r>
              <a:rPr lang="pl-PL" dirty="0"/>
              <a:t>,</a:t>
            </a:r>
          </a:p>
          <a:p>
            <a:pPr marL="342900" indent="-342900">
              <a:buFont typeface="Arial" panose="020B0604020202020204" pitchFamily="34" charset="0"/>
              <a:buChar char="•"/>
            </a:pPr>
            <a:r>
              <a:rPr lang="pl-PL" dirty="0">
                <a:hlinkClick r:id="rId9" action="ppaction://hlinksldjump"/>
              </a:rPr>
              <a:t>Podsumowanie</a:t>
            </a:r>
            <a:r>
              <a:rPr lang="pl-PL" dirty="0"/>
              <a:t>.</a:t>
            </a:r>
          </a:p>
        </p:txBody>
      </p:sp>
    </p:spTree>
    <p:extLst>
      <p:ext uri="{BB962C8B-B14F-4D97-AF65-F5344CB8AC3E}">
        <p14:creationId xmlns:p14="http://schemas.microsoft.com/office/powerpoint/2010/main" val="2110262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0397ED-235C-4FB8-B592-A826D65C2F76}"/>
              </a:ext>
            </a:extLst>
          </p:cNvPr>
          <p:cNvSpPr>
            <a:spLocks noGrp="1"/>
          </p:cNvSpPr>
          <p:nvPr>
            <p:ph type="title"/>
          </p:nvPr>
        </p:nvSpPr>
        <p:spPr>
          <a:xfrm>
            <a:off x="677334" y="609600"/>
            <a:ext cx="8596668" cy="567267"/>
          </a:xfrm>
        </p:spPr>
        <p:txBody>
          <a:bodyPr>
            <a:normAutofit fontScale="90000"/>
          </a:bodyPr>
          <a:lstStyle/>
          <a:p>
            <a:r>
              <a:rPr lang="pl-PL" dirty="0"/>
              <a:t>Wprowadzenie</a:t>
            </a:r>
          </a:p>
        </p:txBody>
      </p:sp>
      <p:pic>
        <p:nvPicPr>
          <p:cNvPr id="1026" name="Picture 2">
            <a:extLst>
              <a:ext uri="{FF2B5EF4-FFF2-40B4-BE49-F238E27FC236}">
                <a16:creationId xmlns:a16="http://schemas.microsoft.com/office/drawing/2014/main" id="{14B44EA0-D206-4961-8496-ED004B427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6234" y="3829923"/>
            <a:ext cx="4478867" cy="2519363"/>
          </a:xfrm>
          <a:prstGeom prst="rect">
            <a:avLst/>
          </a:prstGeom>
          <a:noFill/>
          <a:extLst>
            <a:ext uri="{909E8E84-426E-40DD-AFC4-6F175D3DCCD1}">
              <a14:hiddenFill xmlns:a14="http://schemas.microsoft.com/office/drawing/2010/main">
                <a:solidFill>
                  <a:srgbClr val="FFFFFF"/>
                </a:solidFill>
              </a14:hiddenFill>
            </a:ext>
          </a:extLst>
        </p:spPr>
      </p:pic>
      <p:sp>
        <p:nvSpPr>
          <p:cNvPr id="4" name="pole tekstowe 3">
            <a:extLst>
              <a:ext uri="{FF2B5EF4-FFF2-40B4-BE49-F238E27FC236}">
                <a16:creationId xmlns:a16="http://schemas.microsoft.com/office/drawing/2014/main" id="{7820623B-375E-4686-AE60-4BC1B6D7F12C}"/>
              </a:ext>
            </a:extLst>
          </p:cNvPr>
          <p:cNvSpPr txBox="1"/>
          <p:nvPr/>
        </p:nvSpPr>
        <p:spPr>
          <a:xfrm>
            <a:off x="795866" y="1176867"/>
            <a:ext cx="9025467" cy="2585323"/>
          </a:xfrm>
          <a:prstGeom prst="rect">
            <a:avLst/>
          </a:prstGeom>
          <a:noFill/>
        </p:spPr>
        <p:txBody>
          <a:bodyPr wrap="square" rtlCol="0">
            <a:spAutoFit/>
          </a:bodyPr>
          <a:lstStyle/>
          <a:p>
            <a:r>
              <a:rPr lang="pl-PL" dirty="0"/>
              <a:t>	Developerzy zaprogramowali wiele różnych systemów w grze którą się zajmujemy. My jednak skupimy się tylko na czempionach, oraz ich statystykach. W grze co dwa tygodnie wprowadzane są przez developerów zmiany balansujące. Mają one ogromne znaczenie, ponieważ statystycznie czempionem z 60% wygranych, na 100 gier wygramy 60, a ten z 40%, zwycięstw zapewni nam tylko 40. Dlatego naszym celem jest napisanie modelu predykcyjnego, który będzie wyłapywać trendy z ostatnich miesięcy i na ich podstawie określić czy czempion w następnej łatce do gry zostanie osłabiony czy nie. Poniżej załączamy przykładowe podsumowanie z jednego patcha.</a:t>
            </a:r>
          </a:p>
        </p:txBody>
      </p:sp>
      <p:sp>
        <p:nvSpPr>
          <p:cNvPr id="6" name="pole tekstowe 5">
            <a:extLst>
              <a:ext uri="{FF2B5EF4-FFF2-40B4-BE49-F238E27FC236}">
                <a16:creationId xmlns:a16="http://schemas.microsoft.com/office/drawing/2014/main" id="{4874B988-EC63-4810-904C-F60BC4DD0201}"/>
              </a:ext>
            </a:extLst>
          </p:cNvPr>
          <p:cNvSpPr txBox="1"/>
          <p:nvPr/>
        </p:nvSpPr>
        <p:spPr>
          <a:xfrm>
            <a:off x="3780365" y="6349286"/>
            <a:ext cx="3056467" cy="276999"/>
          </a:xfrm>
          <a:prstGeom prst="rect">
            <a:avLst/>
          </a:prstGeom>
          <a:noFill/>
        </p:spPr>
        <p:txBody>
          <a:bodyPr wrap="square" rtlCol="0">
            <a:spAutoFit/>
          </a:bodyPr>
          <a:lstStyle/>
          <a:p>
            <a:r>
              <a:rPr lang="pl-PL" sz="1200" dirty="0">
                <a:solidFill>
                  <a:schemeClr val="bg1">
                    <a:lumMod val="50000"/>
                  </a:schemeClr>
                </a:solidFill>
              </a:rPr>
              <a:t>1. Patch 14.18 do gry</a:t>
            </a:r>
          </a:p>
        </p:txBody>
      </p:sp>
    </p:spTree>
    <p:extLst>
      <p:ext uri="{BB962C8B-B14F-4D97-AF65-F5344CB8AC3E}">
        <p14:creationId xmlns:p14="http://schemas.microsoft.com/office/powerpoint/2010/main" val="61390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79038F6-36CD-4163-AAC1-0823D5C735D7}"/>
              </a:ext>
            </a:extLst>
          </p:cNvPr>
          <p:cNvSpPr>
            <a:spLocks noGrp="1"/>
          </p:cNvSpPr>
          <p:nvPr>
            <p:ph type="title"/>
          </p:nvPr>
        </p:nvSpPr>
        <p:spPr>
          <a:xfrm>
            <a:off x="677334" y="609600"/>
            <a:ext cx="8596668" cy="685800"/>
          </a:xfrm>
        </p:spPr>
        <p:txBody>
          <a:bodyPr/>
          <a:lstStyle/>
          <a:p>
            <a:r>
              <a:rPr lang="pl-PL" dirty="0"/>
              <a:t>Opis zbioru danych</a:t>
            </a:r>
          </a:p>
        </p:txBody>
      </p:sp>
      <p:sp>
        <p:nvSpPr>
          <p:cNvPr id="3" name="Symbol zastępczy zawartości 2">
            <a:extLst>
              <a:ext uri="{FF2B5EF4-FFF2-40B4-BE49-F238E27FC236}">
                <a16:creationId xmlns:a16="http://schemas.microsoft.com/office/drawing/2014/main" id="{63BE241E-F5C9-4CDE-AFC8-14B4718D8481}"/>
              </a:ext>
            </a:extLst>
          </p:cNvPr>
          <p:cNvSpPr>
            <a:spLocks noGrp="1"/>
          </p:cNvSpPr>
          <p:nvPr>
            <p:ph idx="1"/>
          </p:nvPr>
        </p:nvSpPr>
        <p:spPr>
          <a:xfrm>
            <a:off x="423334" y="1448203"/>
            <a:ext cx="7699401" cy="1412344"/>
          </a:xfrm>
        </p:spPr>
        <p:txBody>
          <a:bodyPr>
            <a:normAutofit lnSpcReduction="10000"/>
          </a:bodyPr>
          <a:lstStyle/>
          <a:p>
            <a:pPr marL="0" indent="0">
              <a:buNone/>
            </a:pPr>
            <a:r>
              <a:rPr lang="pl-PL" dirty="0"/>
              <a:t>	</a:t>
            </a:r>
            <a:r>
              <a:rPr lang="pl-PL" dirty="0">
                <a:solidFill>
                  <a:schemeClr val="tx1"/>
                </a:solidFill>
              </a:rPr>
              <a:t>Ze strony „kaggle.com” pobraliśmy 23 zbiory danych z kolejnych patchy do gry. Dane są gromadzone z zewnętrznej strony „metasrc.com”, która zbiera dane na temat graczy, czempionów oraz rozegranych gier. Zbiory zawierają statystyki czempionów z danego patcha. Kolejne kolumny znaczą:</a:t>
            </a:r>
          </a:p>
          <a:p>
            <a:pPr marL="0" indent="0">
              <a:buNone/>
            </a:pPr>
            <a:endParaRPr lang="pl-PL" dirty="0"/>
          </a:p>
        </p:txBody>
      </p:sp>
      <p:pic>
        <p:nvPicPr>
          <p:cNvPr id="11" name="Obraz 10">
            <a:extLst>
              <a:ext uri="{FF2B5EF4-FFF2-40B4-BE49-F238E27FC236}">
                <a16:creationId xmlns:a16="http://schemas.microsoft.com/office/drawing/2014/main" id="{3EA15F46-F39A-47C4-868B-928F0AA98524}"/>
              </a:ext>
            </a:extLst>
          </p:cNvPr>
          <p:cNvPicPr>
            <a:picLocks noChangeAspect="1"/>
          </p:cNvPicPr>
          <p:nvPr/>
        </p:nvPicPr>
        <p:blipFill>
          <a:blip r:embed="rId2"/>
          <a:stretch>
            <a:fillRect/>
          </a:stretch>
        </p:blipFill>
        <p:spPr>
          <a:xfrm>
            <a:off x="323150" y="4703625"/>
            <a:ext cx="10021699" cy="1971950"/>
          </a:xfrm>
          <a:prstGeom prst="rect">
            <a:avLst/>
          </a:prstGeom>
        </p:spPr>
      </p:pic>
      <p:pic>
        <p:nvPicPr>
          <p:cNvPr id="13" name="Obraz 12">
            <a:extLst>
              <a:ext uri="{FF2B5EF4-FFF2-40B4-BE49-F238E27FC236}">
                <a16:creationId xmlns:a16="http://schemas.microsoft.com/office/drawing/2014/main" id="{703C92B8-BA6A-4B9C-AB46-C3A45D366E64}"/>
              </a:ext>
            </a:extLst>
          </p:cNvPr>
          <p:cNvPicPr>
            <a:picLocks noChangeAspect="1"/>
          </p:cNvPicPr>
          <p:nvPr/>
        </p:nvPicPr>
        <p:blipFill>
          <a:blip r:embed="rId3"/>
          <a:stretch>
            <a:fillRect/>
          </a:stretch>
        </p:blipFill>
        <p:spPr>
          <a:xfrm>
            <a:off x="8122735" y="1024386"/>
            <a:ext cx="2222114" cy="3679239"/>
          </a:xfrm>
          <a:prstGeom prst="rect">
            <a:avLst/>
          </a:prstGeom>
        </p:spPr>
      </p:pic>
      <p:sp>
        <p:nvSpPr>
          <p:cNvPr id="14" name="pole tekstowe 13">
            <a:extLst>
              <a:ext uri="{FF2B5EF4-FFF2-40B4-BE49-F238E27FC236}">
                <a16:creationId xmlns:a16="http://schemas.microsoft.com/office/drawing/2014/main" id="{1046A88A-22FA-4EC8-BDC8-35D670FDB560}"/>
              </a:ext>
            </a:extLst>
          </p:cNvPr>
          <p:cNvSpPr txBox="1"/>
          <p:nvPr/>
        </p:nvSpPr>
        <p:spPr>
          <a:xfrm>
            <a:off x="423334" y="2726267"/>
            <a:ext cx="7699401" cy="2031325"/>
          </a:xfrm>
          <a:prstGeom prst="rect">
            <a:avLst/>
          </a:prstGeom>
          <a:noFill/>
        </p:spPr>
        <p:txBody>
          <a:bodyPr wrap="square" numCol="2" rtlCol="0">
            <a:spAutoFit/>
          </a:bodyPr>
          <a:lstStyle/>
          <a:p>
            <a:r>
              <a:rPr lang="pl-PL" dirty="0"/>
              <a:t>-Nazwa czempiona,</a:t>
            </a:r>
          </a:p>
          <a:p>
            <a:r>
              <a:rPr lang="pl-PL" dirty="0"/>
              <a:t>-Klasa czempiona,</a:t>
            </a:r>
          </a:p>
          <a:p>
            <a:r>
              <a:rPr lang="pl-PL" dirty="0"/>
              <a:t>-Rola na której gra,</a:t>
            </a:r>
          </a:p>
          <a:p>
            <a:r>
              <a:rPr lang="pl-PL" dirty="0"/>
              <a:t>-Ocena czempiona,</a:t>
            </a:r>
          </a:p>
          <a:p>
            <a:r>
              <a:rPr lang="pl-PL" dirty="0"/>
              <a:t>-Wynik w skali 0-100,</a:t>
            </a:r>
          </a:p>
          <a:p>
            <a:r>
              <a:rPr lang="pl-PL" dirty="0"/>
              <a:t>-Spadek bądź wzrost wyniku względem następnego patcha,</a:t>
            </a:r>
          </a:p>
          <a:p>
            <a:r>
              <a:rPr lang="pl-PL" dirty="0"/>
              <a:t>-Procent zwycięstw,</a:t>
            </a:r>
          </a:p>
          <a:p>
            <a:r>
              <a:rPr lang="pl-PL" dirty="0"/>
              <a:t>-Procent rozegranych gier na swojej roli,</a:t>
            </a:r>
          </a:p>
          <a:p>
            <a:r>
              <a:rPr lang="pl-PL" dirty="0"/>
              <a:t>-Procent udziału czempiona w wszystkich grach,</a:t>
            </a:r>
          </a:p>
          <a:p>
            <a:r>
              <a:rPr lang="pl-PL" dirty="0"/>
              <a:t>-Procent wykluczeń czempiona w grach.</a:t>
            </a:r>
          </a:p>
        </p:txBody>
      </p:sp>
    </p:spTree>
    <p:extLst>
      <p:ext uri="{BB962C8B-B14F-4D97-AF65-F5344CB8AC3E}">
        <p14:creationId xmlns:p14="http://schemas.microsoft.com/office/powerpoint/2010/main" val="142577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3334C6E-1DCD-7782-65A7-05B50522E300}"/>
              </a:ext>
            </a:extLst>
          </p:cNvPr>
          <p:cNvSpPr>
            <a:spLocks noGrp="1"/>
          </p:cNvSpPr>
          <p:nvPr>
            <p:ph type="title"/>
          </p:nvPr>
        </p:nvSpPr>
        <p:spPr>
          <a:xfrm>
            <a:off x="677334" y="609600"/>
            <a:ext cx="9533466" cy="851647"/>
          </a:xfrm>
        </p:spPr>
        <p:txBody>
          <a:bodyPr/>
          <a:lstStyle/>
          <a:p>
            <a:r>
              <a:rPr lang="pl-PL" dirty="0"/>
              <a:t>Przygotowanie zbioru danych do predykcji</a:t>
            </a:r>
          </a:p>
        </p:txBody>
      </p:sp>
      <p:sp>
        <p:nvSpPr>
          <p:cNvPr id="3" name="Symbol zastępczy zawartości 2">
            <a:extLst>
              <a:ext uri="{FF2B5EF4-FFF2-40B4-BE49-F238E27FC236}">
                <a16:creationId xmlns:a16="http://schemas.microsoft.com/office/drawing/2014/main" id="{8911E496-E258-DE5D-0AA6-775FDA561988}"/>
              </a:ext>
            </a:extLst>
          </p:cNvPr>
          <p:cNvSpPr>
            <a:spLocks noGrp="1"/>
          </p:cNvSpPr>
          <p:nvPr>
            <p:ph idx="1"/>
          </p:nvPr>
        </p:nvSpPr>
        <p:spPr>
          <a:xfrm>
            <a:off x="677334" y="1737523"/>
            <a:ext cx="8596668" cy="3880773"/>
          </a:xfrm>
        </p:spPr>
        <p:txBody>
          <a:bodyPr/>
          <a:lstStyle/>
          <a:p>
            <a:pPr marL="0" indent="0">
              <a:buNone/>
            </a:pPr>
            <a:r>
              <a:rPr lang="pl-PL" dirty="0"/>
              <a:t>	Przeszukując Internet, nie udało nam się znaleźć żadnej bazy danych z informacjami booleanowymi na temat tego czy w danym patchu nastąpiło osłabienie czy nie. Z tego względu kolumna z wartościami 0 oraz 1 została przez nas utworzona na podstawie kolumny trend. Trend mówi nam o ile spadł bądź wzrósł wynik czempiona względem następnego patcha. Zdefiniowaliśmy osłabienie jako spadek wyniku czempiona o co najmniej 5 punktów w skali 0-100.</a:t>
            </a:r>
          </a:p>
          <a:p>
            <a:pPr marL="0" indent="0">
              <a:buNone/>
            </a:pPr>
            <a:r>
              <a:rPr lang="pl-PL" dirty="0"/>
              <a:t>	Inna nietypowa czynność którą podjęliśmy to konkatenacja 23 patchy w jedną bazę danych. Aby wykorzystać znane nam modele, potrzebujemy aby dane znajdowały się w jednym miejscu. Szczegółowe zmiany na danych znajdują się wraz z odpowiednimi komentarzami w kodzie, a zmiany wprowadzone pod model będą w sekcji o specyfikacji zastosowanych modeli. </a:t>
            </a:r>
          </a:p>
        </p:txBody>
      </p:sp>
    </p:spTree>
    <p:extLst>
      <p:ext uri="{BB962C8B-B14F-4D97-AF65-F5344CB8AC3E}">
        <p14:creationId xmlns:p14="http://schemas.microsoft.com/office/powerpoint/2010/main" val="4175817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C13EA80-9984-465C-8E6A-5FABBEAF6728}"/>
              </a:ext>
            </a:extLst>
          </p:cNvPr>
          <p:cNvSpPr>
            <a:spLocks noGrp="1"/>
          </p:cNvSpPr>
          <p:nvPr>
            <p:ph type="title"/>
          </p:nvPr>
        </p:nvSpPr>
        <p:spPr>
          <a:xfrm>
            <a:off x="677334" y="609600"/>
            <a:ext cx="8596668" cy="651933"/>
          </a:xfrm>
        </p:spPr>
        <p:txBody>
          <a:bodyPr/>
          <a:lstStyle/>
          <a:p>
            <a:r>
              <a:rPr lang="pl-PL" dirty="0"/>
              <a:t>Cele analityczne i biznesowe</a:t>
            </a:r>
          </a:p>
        </p:txBody>
      </p:sp>
      <p:sp>
        <p:nvSpPr>
          <p:cNvPr id="4" name="Symbol zastępczy zawartości 2">
            <a:extLst>
              <a:ext uri="{FF2B5EF4-FFF2-40B4-BE49-F238E27FC236}">
                <a16:creationId xmlns:a16="http://schemas.microsoft.com/office/drawing/2014/main" id="{F916B767-CFDC-49DC-BB14-19E7A131129F}"/>
              </a:ext>
            </a:extLst>
          </p:cNvPr>
          <p:cNvSpPr txBox="1">
            <a:spLocks/>
          </p:cNvSpPr>
          <p:nvPr/>
        </p:nvSpPr>
        <p:spPr>
          <a:xfrm>
            <a:off x="677334" y="1461694"/>
            <a:ext cx="8596668" cy="2195906"/>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pl-PL" dirty="0">
                <a:solidFill>
                  <a:schemeClr val="tx1"/>
                </a:solidFill>
              </a:rPr>
              <a:t>Naszym celem </a:t>
            </a:r>
            <a:r>
              <a:rPr lang="pl-PL" b="1" dirty="0">
                <a:solidFill>
                  <a:schemeClr val="tx1"/>
                </a:solidFill>
              </a:rPr>
              <a:t>Analitycznym</a:t>
            </a:r>
            <a:r>
              <a:rPr lang="pl-PL" dirty="0">
                <a:solidFill>
                  <a:schemeClr val="tx1"/>
                </a:solidFill>
              </a:rPr>
              <a:t>, jest budowa modelu klasyfikacyjnego, który na podstawie historycznych statystyk czempionów zawartych w naszej bazie danych, będzie przygotowywać predykcję tego czy dany czempion zostanie osłabiony. Przykładowy problem z którym model mógłby sobie radzić, to wspomaganie gracza w wyborze postaci, którymi warto grać aby w przyszłości osiągać jak najlepsze wyniki. Gra jest na tyle skomplikowana że gracze nie są w stanie opanować nowej mody z dnia na dzień. Dlatego informacja o tym czym będzie się opłacało grać w przyszłości, da już dzisiaj graczom przewagę.</a:t>
            </a:r>
          </a:p>
        </p:txBody>
      </p:sp>
      <p:sp>
        <p:nvSpPr>
          <p:cNvPr id="7" name="Symbol zastępczy zawartości 2">
            <a:extLst>
              <a:ext uri="{FF2B5EF4-FFF2-40B4-BE49-F238E27FC236}">
                <a16:creationId xmlns:a16="http://schemas.microsoft.com/office/drawing/2014/main" id="{9EE558AB-781A-4B6F-9337-21931B4C8B7F}"/>
              </a:ext>
            </a:extLst>
          </p:cNvPr>
          <p:cNvSpPr txBox="1">
            <a:spLocks/>
          </p:cNvSpPr>
          <p:nvPr/>
        </p:nvSpPr>
        <p:spPr>
          <a:xfrm>
            <a:off x="677334" y="3683000"/>
            <a:ext cx="8596668" cy="21959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pl-PL" dirty="0">
              <a:solidFill>
                <a:schemeClr val="tx1"/>
              </a:solidFill>
            </a:endParaRPr>
          </a:p>
        </p:txBody>
      </p:sp>
      <p:sp>
        <p:nvSpPr>
          <p:cNvPr id="8" name="Symbol zastępczy zawartości 2">
            <a:extLst>
              <a:ext uri="{FF2B5EF4-FFF2-40B4-BE49-F238E27FC236}">
                <a16:creationId xmlns:a16="http://schemas.microsoft.com/office/drawing/2014/main" id="{6EB24631-6839-439A-B8EF-7F1D4663C450}"/>
              </a:ext>
            </a:extLst>
          </p:cNvPr>
          <p:cNvSpPr txBox="1">
            <a:spLocks/>
          </p:cNvSpPr>
          <p:nvPr/>
        </p:nvSpPr>
        <p:spPr>
          <a:xfrm>
            <a:off x="677334" y="3860800"/>
            <a:ext cx="8596668" cy="153550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pl-PL" dirty="0">
                <a:solidFill>
                  <a:schemeClr val="tx1"/>
                </a:solidFill>
              </a:rPr>
              <a:t>Patrząc od strony </a:t>
            </a:r>
            <a:r>
              <a:rPr lang="pl-PL" b="1" dirty="0">
                <a:solidFill>
                  <a:schemeClr val="tx1"/>
                </a:solidFill>
              </a:rPr>
              <a:t>Biznesowej, </a:t>
            </a:r>
            <a:r>
              <a:rPr lang="pl-PL" dirty="0">
                <a:solidFill>
                  <a:schemeClr val="tx1"/>
                </a:solidFill>
              </a:rPr>
              <a:t>e-sport (sport elektroniczny) jest bardzo szybko rozwijającą się </a:t>
            </a:r>
            <a:r>
              <a:rPr lang="pl-PL" dirty="0" smtClean="0">
                <a:solidFill>
                  <a:schemeClr val="tx1"/>
                </a:solidFill>
              </a:rPr>
              <a:t>branżą, </a:t>
            </a:r>
            <a:r>
              <a:rPr lang="pl-PL" dirty="0">
                <a:solidFill>
                  <a:schemeClr val="tx1"/>
                </a:solidFill>
              </a:rPr>
              <a:t>w której ma miejsce duży przepływ pieniędzy. Tego typu model, który działałby na wielu różnych stronach zbierających dane oraz posiadający odpowiednio dużą dokładność byłby potężnym narzędziem dla organizacji e-sportowych. </a:t>
            </a:r>
            <a:endParaRPr lang="pl-PL" b="1" dirty="0">
              <a:solidFill>
                <a:schemeClr val="tx1"/>
              </a:solidFill>
            </a:endParaRPr>
          </a:p>
        </p:txBody>
      </p:sp>
    </p:spTree>
    <p:extLst>
      <p:ext uri="{BB962C8B-B14F-4D97-AF65-F5344CB8AC3E}">
        <p14:creationId xmlns:p14="http://schemas.microsoft.com/office/powerpoint/2010/main" val="1504483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2993120-4FB3-4B7A-95B3-391F2DD918EE}"/>
              </a:ext>
            </a:extLst>
          </p:cNvPr>
          <p:cNvSpPr>
            <a:spLocks noGrp="1"/>
          </p:cNvSpPr>
          <p:nvPr>
            <p:ph type="title"/>
          </p:nvPr>
        </p:nvSpPr>
        <p:spPr>
          <a:xfrm>
            <a:off x="677334" y="355600"/>
            <a:ext cx="8596668" cy="626533"/>
          </a:xfrm>
        </p:spPr>
        <p:txBody>
          <a:bodyPr>
            <a:normAutofit fontScale="90000"/>
          </a:bodyPr>
          <a:lstStyle/>
          <a:p>
            <a:r>
              <a:rPr lang="pl-PL" dirty="0"/>
              <a:t>Uzasadnienie odrzucenia innych modeli</a:t>
            </a:r>
            <a:br>
              <a:rPr lang="pl-PL" dirty="0"/>
            </a:br>
            <a:endParaRPr lang="pl-PL" dirty="0"/>
          </a:p>
        </p:txBody>
      </p:sp>
      <p:sp>
        <p:nvSpPr>
          <p:cNvPr id="3" name="Symbol zastępczy zawartości 2">
            <a:extLst>
              <a:ext uri="{FF2B5EF4-FFF2-40B4-BE49-F238E27FC236}">
                <a16:creationId xmlns:a16="http://schemas.microsoft.com/office/drawing/2014/main" id="{F15E3E70-190E-4AF2-A586-24946390044D}"/>
              </a:ext>
            </a:extLst>
          </p:cNvPr>
          <p:cNvSpPr>
            <a:spLocks noGrp="1"/>
          </p:cNvSpPr>
          <p:nvPr>
            <p:ph idx="1"/>
          </p:nvPr>
        </p:nvSpPr>
        <p:spPr>
          <a:xfrm>
            <a:off x="677334" y="1119190"/>
            <a:ext cx="8596668" cy="768878"/>
          </a:xfrm>
        </p:spPr>
        <p:txBody>
          <a:bodyPr>
            <a:normAutofit/>
          </a:bodyPr>
          <a:lstStyle/>
          <a:p>
            <a:pPr marL="0" indent="0">
              <a:buNone/>
            </a:pPr>
            <a:r>
              <a:rPr lang="pl-PL" sz="2000" b="1" dirty="0"/>
              <a:t>Metoda k-NN</a:t>
            </a:r>
          </a:p>
        </p:txBody>
      </p:sp>
      <p:sp>
        <p:nvSpPr>
          <p:cNvPr id="4" name="pole tekstowe 3">
            <a:extLst>
              <a:ext uri="{FF2B5EF4-FFF2-40B4-BE49-F238E27FC236}">
                <a16:creationId xmlns:a16="http://schemas.microsoft.com/office/drawing/2014/main" id="{10ACB2E3-5A1E-41B9-8B67-3185AA35C80F}"/>
              </a:ext>
            </a:extLst>
          </p:cNvPr>
          <p:cNvSpPr txBox="1"/>
          <p:nvPr/>
        </p:nvSpPr>
        <p:spPr>
          <a:xfrm>
            <a:off x="677334" y="1701800"/>
            <a:ext cx="8407399" cy="2862322"/>
          </a:xfrm>
          <a:prstGeom prst="rect">
            <a:avLst/>
          </a:prstGeom>
          <a:noFill/>
        </p:spPr>
        <p:txBody>
          <a:bodyPr wrap="square" rtlCol="0">
            <a:spAutoFit/>
          </a:bodyPr>
          <a:lstStyle/>
          <a:p>
            <a:r>
              <a:rPr lang="pl-PL" dirty="0"/>
              <a:t>Stwierdziliśmy, że k-NN nie będzie wykorzystywał wszystkich informacji z zbioru danych, które mogłyby być użyte do trenowania modelu. Z racji iż k-NN liczy odległości i wybiera najbliższe obserwacje, model mógłby całkowicie zignorować sens szeregu czasowego. Dla niego czempion 1, z takimi samymi statystykami jak czempion 2, miałby takie same szanse na osłabienie, pomimo że czempion 1 jest silny od 4 patchy a czempion 2 silny od jednego patcha. Dodatkowo, po przygotowaniu bazy danych do predykcji, </a:t>
            </a:r>
            <a:r>
              <a:rPr lang="pl-PL" dirty="0" smtClean="0"/>
              <a:t>kolumn </a:t>
            </a:r>
            <a:r>
              <a:rPr lang="pl-PL" dirty="0"/>
              <a:t>które wykorzystamy do trenowania modelu jest 45. Mogło by to powodować, że odległości miedzy rekordami były by do siebie podobne, co negatywnie wpłynęło by na predykcję modelu.</a:t>
            </a:r>
          </a:p>
        </p:txBody>
      </p:sp>
      <p:pic>
        <p:nvPicPr>
          <p:cNvPr id="6" name="Obraz 5">
            <a:extLst>
              <a:ext uri="{FF2B5EF4-FFF2-40B4-BE49-F238E27FC236}">
                <a16:creationId xmlns:a16="http://schemas.microsoft.com/office/drawing/2014/main" id="{0FE56858-9355-43B4-B3E3-8CB1B1F85BC0}"/>
              </a:ext>
            </a:extLst>
          </p:cNvPr>
          <p:cNvPicPr>
            <a:picLocks noChangeAspect="1"/>
          </p:cNvPicPr>
          <p:nvPr/>
        </p:nvPicPr>
        <p:blipFill>
          <a:blip r:embed="rId2"/>
          <a:stretch>
            <a:fillRect/>
          </a:stretch>
        </p:blipFill>
        <p:spPr>
          <a:xfrm>
            <a:off x="227363" y="4760915"/>
            <a:ext cx="10145541" cy="771633"/>
          </a:xfrm>
          <a:prstGeom prst="rect">
            <a:avLst/>
          </a:prstGeom>
        </p:spPr>
      </p:pic>
      <p:sp>
        <p:nvSpPr>
          <p:cNvPr id="8" name="pole tekstowe 7">
            <a:extLst>
              <a:ext uri="{FF2B5EF4-FFF2-40B4-BE49-F238E27FC236}">
                <a16:creationId xmlns:a16="http://schemas.microsoft.com/office/drawing/2014/main" id="{692D3C36-8029-4AA6-9BFB-19F48972CA0C}"/>
              </a:ext>
            </a:extLst>
          </p:cNvPr>
          <p:cNvSpPr txBox="1"/>
          <p:nvPr/>
        </p:nvSpPr>
        <p:spPr>
          <a:xfrm>
            <a:off x="3447434" y="5526731"/>
            <a:ext cx="3056467" cy="276999"/>
          </a:xfrm>
          <a:prstGeom prst="rect">
            <a:avLst/>
          </a:prstGeom>
          <a:noFill/>
        </p:spPr>
        <p:txBody>
          <a:bodyPr wrap="square" rtlCol="0">
            <a:spAutoFit/>
          </a:bodyPr>
          <a:lstStyle/>
          <a:p>
            <a:r>
              <a:rPr lang="pl-PL" sz="1200" dirty="0">
                <a:solidFill>
                  <a:schemeClr val="bg1">
                    <a:lumMod val="50000"/>
                  </a:schemeClr>
                </a:solidFill>
              </a:rPr>
              <a:t>2. Nazwy kolumn w bazie danych</a:t>
            </a:r>
          </a:p>
        </p:txBody>
      </p:sp>
    </p:spTree>
    <p:extLst>
      <p:ext uri="{BB962C8B-B14F-4D97-AF65-F5344CB8AC3E}">
        <p14:creationId xmlns:p14="http://schemas.microsoft.com/office/powerpoint/2010/main" val="4133930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50896241-20E8-FA78-9F48-10C8F89DD714}"/>
              </a:ext>
            </a:extLst>
          </p:cNvPr>
          <p:cNvSpPr>
            <a:spLocks noGrp="1"/>
          </p:cNvSpPr>
          <p:nvPr>
            <p:ph idx="1"/>
          </p:nvPr>
        </p:nvSpPr>
        <p:spPr>
          <a:xfrm>
            <a:off x="677334" y="1291734"/>
            <a:ext cx="8596668" cy="1940387"/>
          </a:xfrm>
        </p:spPr>
        <p:txBody>
          <a:bodyPr/>
          <a:lstStyle/>
          <a:p>
            <a:pPr marL="0" indent="0">
              <a:buNone/>
            </a:pPr>
            <a:r>
              <a:rPr lang="pl-PL" dirty="0"/>
              <a:t>	Głównym problemem klasyfikatora bayesowskiego jest naiwne założenie o niezależności danych. W naszej bazie danych każdy atrybut mniej lub więcej jest zależny od innych. Przykładowo model może uznać, że od pewnego poziomu procentu zwycięstw rozgrywek, czempion będzie osłabiony, a zignoruje fakt, że naturalnie czempion z samej swojej natury będzie mieć procent zwycięstw większy o kilka punktów procentowych od innych czempionów.</a:t>
            </a:r>
          </a:p>
        </p:txBody>
      </p:sp>
      <p:sp>
        <p:nvSpPr>
          <p:cNvPr id="6" name="Symbol zastępczy zawartości 2">
            <a:extLst>
              <a:ext uri="{FF2B5EF4-FFF2-40B4-BE49-F238E27FC236}">
                <a16:creationId xmlns:a16="http://schemas.microsoft.com/office/drawing/2014/main" id="{974E9C22-8938-C642-0A4E-F670A374B284}"/>
              </a:ext>
            </a:extLst>
          </p:cNvPr>
          <p:cNvSpPr txBox="1">
            <a:spLocks/>
          </p:cNvSpPr>
          <p:nvPr/>
        </p:nvSpPr>
        <p:spPr>
          <a:xfrm>
            <a:off x="677334" y="780401"/>
            <a:ext cx="8596668" cy="63602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pl-PL" sz="2000" b="1" dirty="0"/>
              <a:t>Klasyfikator Bayesowski</a:t>
            </a:r>
          </a:p>
        </p:txBody>
      </p:sp>
      <p:sp>
        <p:nvSpPr>
          <p:cNvPr id="7" name="Symbol zastępczy zawartości 2">
            <a:extLst>
              <a:ext uri="{FF2B5EF4-FFF2-40B4-BE49-F238E27FC236}">
                <a16:creationId xmlns:a16="http://schemas.microsoft.com/office/drawing/2014/main" id="{9D459485-61C9-1761-7B0F-151712072CDA}"/>
              </a:ext>
            </a:extLst>
          </p:cNvPr>
          <p:cNvSpPr txBox="1">
            <a:spLocks/>
          </p:cNvSpPr>
          <p:nvPr/>
        </p:nvSpPr>
        <p:spPr>
          <a:xfrm>
            <a:off x="677334" y="3429000"/>
            <a:ext cx="8596668" cy="63602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pl-PL" sz="2000" b="1" dirty="0"/>
              <a:t>Klasteryzacja (analiza skupień)</a:t>
            </a:r>
          </a:p>
        </p:txBody>
      </p:sp>
      <p:sp>
        <p:nvSpPr>
          <p:cNvPr id="8" name="Symbol zastępczy zawartości 2">
            <a:extLst>
              <a:ext uri="{FF2B5EF4-FFF2-40B4-BE49-F238E27FC236}">
                <a16:creationId xmlns:a16="http://schemas.microsoft.com/office/drawing/2014/main" id="{06460BF4-1368-A6C8-8045-376DDB4C512B}"/>
              </a:ext>
            </a:extLst>
          </p:cNvPr>
          <p:cNvSpPr txBox="1">
            <a:spLocks/>
          </p:cNvSpPr>
          <p:nvPr/>
        </p:nvSpPr>
        <p:spPr>
          <a:xfrm>
            <a:off x="677334" y="3989766"/>
            <a:ext cx="8596668" cy="25096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pl-PL" dirty="0"/>
              <a:t>	Pomimo, że wydaje się iż klasteryzacja czy to po rolach czy klasach mogła by pomóc w poprawnej predykcji, to model klasteryzacji wymaga jak największej rozróżnialności między grupami. Nie mamy wystarczających informacji czy statystyki między tymi grupami zachowywałyby się dostatecznie </a:t>
            </a:r>
            <a:r>
              <a:rPr lang="pl-PL" dirty="0" smtClean="0"/>
              <a:t>odróżnialnie. Jest to potrzebne </a:t>
            </a:r>
            <a:r>
              <a:rPr lang="pl-PL" dirty="0"/>
              <a:t>aby klasteryzacja miała sens, tak więc ta metoda również została przez nas odrzucona. Klasteryzacja nienadzorowana natomiast podzieliła by dane po statystykach, jednak nie mamy pewności, że taki podział polepszyłby predykcję </a:t>
            </a:r>
            <a:r>
              <a:rPr lang="pl-PL" dirty="0" smtClean="0"/>
              <a:t>osłabień </a:t>
            </a:r>
            <a:r>
              <a:rPr lang="pl-PL" dirty="0"/>
              <a:t>czempionów.</a:t>
            </a:r>
          </a:p>
        </p:txBody>
      </p:sp>
    </p:spTree>
    <p:extLst>
      <p:ext uri="{BB962C8B-B14F-4D97-AF65-F5344CB8AC3E}">
        <p14:creationId xmlns:p14="http://schemas.microsoft.com/office/powerpoint/2010/main" val="115281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6C66B51-BAD6-9E85-02C3-220E1C89485E}"/>
              </a:ext>
            </a:extLst>
          </p:cNvPr>
          <p:cNvSpPr>
            <a:spLocks noGrp="1"/>
          </p:cNvSpPr>
          <p:nvPr>
            <p:ph type="title"/>
          </p:nvPr>
        </p:nvSpPr>
        <p:spPr>
          <a:xfrm>
            <a:off x="677334" y="609600"/>
            <a:ext cx="8596668" cy="726141"/>
          </a:xfrm>
        </p:spPr>
        <p:txBody>
          <a:bodyPr/>
          <a:lstStyle/>
          <a:p>
            <a:r>
              <a:rPr lang="pl-PL" dirty="0"/>
              <a:t>Uzasadnienie wyboru modelu</a:t>
            </a:r>
          </a:p>
        </p:txBody>
      </p:sp>
      <p:sp>
        <p:nvSpPr>
          <p:cNvPr id="3" name="Symbol zastępczy zawartości 2">
            <a:extLst>
              <a:ext uri="{FF2B5EF4-FFF2-40B4-BE49-F238E27FC236}">
                <a16:creationId xmlns:a16="http://schemas.microsoft.com/office/drawing/2014/main" id="{830C8834-B752-7257-A59A-D43507701AAA}"/>
              </a:ext>
            </a:extLst>
          </p:cNvPr>
          <p:cNvSpPr>
            <a:spLocks noGrp="1"/>
          </p:cNvSpPr>
          <p:nvPr>
            <p:ph idx="1"/>
          </p:nvPr>
        </p:nvSpPr>
        <p:spPr>
          <a:xfrm>
            <a:off x="677334" y="1488613"/>
            <a:ext cx="5337984" cy="4948046"/>
          </a:xfrm>
        </p:spPr>
        <p:txBody>
          <a:bodyPr/>
          <a:lstStyle/>
          <a:p>
            <a:pPr marL="0" indent="0">
              <a:buNone/>
            </a:pPr>
            <a:r>
              <a:rPr lang="pl-PL" dirty="0"/>
              <a:t>	Modelem na który zdecydowaliśmy się finalnie są </a:t>
            </a:r>
            <a:r>
              <a:rPr lang="pl-PL" b="1" dirty="0"/>
              <a:t>Drzewa</a:t>
            </a:r>
            <a:r>
              <a:rPr lang="pl-PL" dirty="0"/>
              <a:t> </a:t>
            </a:r>
            <a:r>
              <a:rPr lang="pl-PL" b="1" dirty="0"/>
              <a:t>Decyzyjne</a:t>
            </a:r>
            <a:r>
              <a:rPr lang="pl-PL" dirty="0"/>
              <a:t>. Na ostatnim etapie wyboru modelu, musieliśmy odrzucić drzewa decyzyjne bądź regresyjne. Oba działają na podobnej zasadzie, jednak ich zastosowania zasadniczo się różnią. Naszym celem projektu jest predykcja osłabień, a nie konkretnych wartości kolumny z wynikiem. </a:t>
            </a:r>
          </a:p>
          <a:p>
            <a:pPr marL="0" indent="0">
              <a:buNone/>
            </a:pPr>
            <a:r>
              <a:rPr lang="pl-PL" dirty="0"/>
              <a:t>	Użycie drzew decyzyjnych daje nam jawny wgląd w reguły decyzyjne, co może stanowić cenną informacje dla osób/organizacji zainteresowanych predykcją osłabień czempionów. Dodatkowo drzewo samo zdecyduje które kolumny zawierają najcenniejsze informacje, więc predykcja będzie dokładniejsza w porównaniu do modelu k-NN, gdzie każda kolumna ma taki sam wpływ na predykcję. </a:t>
            </a:r>
          </a:p>
        </p:txBody>
      </p:sp>
      <p:pic>
        <p:nvPicPr>
          <p:cNvPr id="5" name="Obraz 4">
            <a:extLst>
              <a:ext uri="{FF2B5EF4-FFF2-40B4-BE49-F238E27FC236}">
                <a16:creationId xmlns:a16="http://schemas.microsoft.com/office/drawing/2014/main" id="{A7B70D67-1E10-11E4-0BC4-0D12AC3FC41D}"/>
              </a:ext>
            </a:extLst>
          </p:cNvPr>
          <p:cNvPicPr>
            <a:picLocks noChangeAspect="1"/>
          </p:cNvPicPr>
          <p:nvPr/>
        </p:nvPicPr>
        <p:blipFill>
          <a:blip r:embed="rId2"/>
          <a:stretch>
            <a:fillRect/>
          </a:stretch>
        </p:blipFill>
        <p:spPr>
          <a:xfrm>
            <a:off x="7618393" y="465918"/>
            <a:ext cx="2943636" cy="5782482"/>
          </a:xfrm>
          <a:prstGeom prst="rect">
            <a:avLst/>
          </a:prstGeom>
        </p:spPr>
      </p:pic>
      <p:sp>
        <p:nvSpPr>
          <p:cNvPr id="7" name="pole tekstowe 6">
            <a:extLst>
              <a:ext uri="{FF2B5EF4-FFF2-40B4-BE49-F238E27FC236}">
                <a16:creationId xmlns:a16="http://schemas.microsoft.com/office/drawing/2014/main" id="{777DFB64-5ABB-E2F4-0A3E-31E450C46249}"/>
              </a:ext>
            </a:extLst>
          </p:cNvPr>
          <p:cNvSpPr txBox="1"/>
          <p:nvPr/>
        </p:nvSpPr>
        <p:spPr>
          <a:xfrm>
            <a:off x="7084221" y="6298159"/>
            <a:ext cx="3056467" cy="276999"/>
          </a:xfrm>
          <a:prstGeom prst="rect">
            <a:avLst/>
          </a:prstGeom>
          <a:noFill/>
        </p:spPr>
        <p:txBody>
          <a:bodyPr wrap="square" rtlCol="0">
            <a:spAutoFit/>
          </a:bodyPr>
          <a:lstStyle/>
          <a:p>
            <a:r>
              <a:rPr lang="pl-PL" sz="1200" dirty="0">
                <a:solidFill>
                  <a:schemeClr val="bg1">
                    <a:lumMod val="50000"/>
                  </a:schemeClr>
                </a:solidFill>
              </a:rPr>
              <a:t>3. Reguły w finalnym drzewie</a:t>
            </a:r>
          </a:p>
        </p:txBody>
      </p:sp>
    </p:spTree>
    <p:extLst>
      <p:ext uri="{BB962C8B-B14F-4D97-AF65-F5344CB8AC3E}">
        <p14:creationId xmlns:p14="http://schemas.microsoft.com/office/powerpoint/2010/main" val="3182988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677334" y="609600"/>
            <a:ext cx="8596668" cy="653935"/>
          </a:xfrm>
        </p:spPr>
        <p:txBody>
          <a:bodyPr/>
          <a:lstStyle/>
          <a:p>
            <a:r>
              <a:rPr lang="pl-PL" dirty="0"/>
              <a:t>Specyfikacja wybranego modelu</a:t>
            </a:r>
          </a:p>
        </p:txBody>
      </p:sp>
      <p:sp>
        <p:nvSpPr>
          <p:cNvPr id="3" name="Symbol zastępczy zawartości 2"/>
          <p:cNvSpPr>
            <a:spLocks noGrp="1"/>
          </p:cNvSpPr>
          <p:nvPr>
            <p:ph idx="1"/>
          </p:nvPr>
        </p:nvSpPr>
        <p:spPr>
          <a:xfrm>
            <a:off x="1102290" y="1275264"/>
            <a:ext cx="2480153" cy="2018284"/>
          </a:xfrm>
        </p:spPr>
        <p:txBody>
          <a:bodyPr>
            <a:normAutofit/>
          </a:bodyPr>
          <a:lstStyle/>
          <a:p>
            <a:pPr marL="0" indent="0" algn="just">
              <a:buNone/>
            </a:pPr>
            <a:r>
              <a:rPr lang="pl-PL" dirty="0"/>
              <a:t>	</a:t>
            </a:r>
            <a:r>
              <a:rPr lang="pl-PL" dirty="0" smtClean="0"/>
              <a:t>W naszym modelu wykorzystaliśmy początkowo algorytm C5.0. Nie dał on jednak wystarczająco satysfakcjonujących wyników.</a:t>
            </a:r>
            <a:endParaRPr lang="pl-PL" dirty="0"/>
          </a:p>
        </p:txBody>
      </p:sp>
      <p:pic>
        <p:nvPicPr>
          <p:cNvPr id="4" name="Obraz 3"/>
          <p:cNvPicPr>
            <a:picLocks noChangeAspect="1"/>
          </p:cNvPicPr>
          <p:nvPr/>
        </p:nvPicPr>
        <p:blipFill>
          <a:blip r:embed="rId2"/>
          <a:stretch>
            <a:fillRect/>
          </a:stretch>
        </p:blipFill>
        <p:spPr>
          <a:xfrm>
            <a:off x="3805889" y="1360352"/>
            <a:ext cx="5468113" cy="1848108"/>
          </a:xfrm>
          <a:prstGeom prst="rect">
            <a:avLst/>
          </a:prstGeom>
        </p:spPr>
      </p:pic>
      <p:sp>
        <p:nvSpPr>
          <p:cNvPr id="5" name="pole tekstowe 4"/>
          <p:cNvSpPr txBox="1"/>
          <p:nvPr/>
        </p:nvSpPr>
        <p:spPr>
          <a:xfrm>
            <a:off x="1102290" y="3716103"/>
            <a:ext cx="3128555" cy="1754326"/>
          </a:xfrm>
          <a:prstGeom prst="rect">
            <a:avLst/>
          </a:prstGeom>
          <a:noFill/>
        </p:spPr>
        <p:txBody>
          <a:bodyPr wrap="square" rtlCol="0">
            <a:spAutoFit/>
          </a:bodyPr>
          <a:lstStyle/>
          <a:p>
            <a:r>
              <a:rPr lang="pl-PL" dirty="0"/>
              <a:t>	</a:t>
            </a:r>
            <a:r>
              <a:rPr lang="pl-PL" dirty="0" smtClean="0"/>
              <a:t>Jedną z zalet algorytmu C5.0 jest prosta możliwość jego rozbudowy, za pomocą boostingu. Tworzy on wiele drzew, które poprawiają błędy poprzednich. </a:t>
            </a:r>
            <a:endParaRPr lang="pl-PL" dirty="0"/>
          </a:p>
        </p:txBody>
      </p:sp>
      <p:pic>
        <p:nvPicPr>
          <p:cNvPr id="7" name="Obraz 6"/>
          <p:cNvPicPr>
            <a:picLocks noChangeAspect="1"/>
          </p:cNvPicPr>
          <p:nvPr/>
        </p:nvPicPr>
        <p:blipFill>
          <a:blip r:embed="rId3"/>
          <a:stretch>
            <a:fillRect/>
          </a:stretch>
        </p:blipFill>
        <p:spPr>
          <a:xfrm>
            <a:off x="4230845" y="3626343"/>
            <a:ext cx="5944430" cy="1933845"/>
          </a:xfrm>
          <a:prstGeom prst="rect">
            <a:avLst/>
          </a:prstGeom>
        </p:spPr>
      </p:pic>
    </p:spTree>
    <p:extLst>
      <p:ext uri="{BB962C8B-B14F-4D97-AF65-F5344CB8AC3E}">
        <p14:creationId xmlns:p14="http://schemas.microsoft.com/office/powerpoint/2010/main" val="1898226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677334" y="609600"/>
            <a:ext cx="8596668" cy="730685"/>
          </a:xfrm>
        </p:spPr>
        <p:txBody>
          <a:bodyPr/>
          <a:lstStyle/>
          <a:p>
            <a:r>
              <a:rPr lang="pl-PL" dirty="0" smtClean="0"/>
              <a:t>Specyfikacja wybranego modelu cd.</a:t>
            </a:r>
            <a:endParaRPr lang="pl-PL" dirty="0"/>
          </a:p>
        </p:txBody>
      </p:sp>
      <p:sp>
        <p:nvSpPr>
          <p:cNvPr id="3" name="Symbol zastępczy zawartości 2"/>
          <p:cNvSpPr>
            <a:spLocks noGrp="1"/>
          </p:cNvSpPr>
          <p:nvPr>
            <p:ph idx="1"/>
          </p:nvPr>
        </p:nvSpPr>
        <p:spPr>
          <a:xfrm>
            <a:off x="826717" y="3271299"/>
            <a:ext cx="8596668" cy="1288175"/>
          </a:xfrm>
        </p:spPr>
        <p:txBody>
          <a:bodyPr/>
          <a:lstStyle/>
          <a:p>
            <a:pPr marL="0" indent="0">
              <a:buNone/>
            </a:pPr>
            <a:r>
              <a:rPr lang="pl-PL" dirty="0" smtClean="0"/>
              <a:t>	Wyniki się poprawiły jednak w naszym modelu chcielibyśmy bardziej skupić się na trafnej predykcji niż wyniku prawdziwie negatywnym. Dlatego następnie użyliśmy wag, aby algorytm skupiał się bardziej na faktycznym przewidywaniu osłabień czempionów kosztem błędu typu drugiego.</a:t>
            </a:r>
            <a:endParaRPr lang="pl-PL" dirty="0"/>
          </a:p>
        </p:txBody>
      </p:sp>
      <p:sp>
        <p:nvSpPr>
          <p:cNvPr id="4" name="pole tekstowe 3"/>
          <p:cNvSpPr txBox="1"/>
          <p:nvPr/>
        </p:nvSpPr>
        <p:spPr>
          <a:xfrm>
            <a:off x="826717" y="1340285"/>
            <a:ext cx="3732757" cy="1200329"/>
          </a:xfrm>
          <a:prstGeom prst="rect">
            <a:avLst/>
          </a:prstGeom>
          <a:noFill/>
        </p:spPr>
        <p:txBody>
          <a:bodyPr wrap="square" rtlCol="0">
            <a:spAutoFit/>
          </a:bodyPr>
          <a:lstStyle/>
          <a:p>
            <a:r>
              <a:rPr lang="pl-PL" dirty="0" smtClean="0"/>
              <a:t>Najlepszy parametr </a:t>
            </a:r>
            <a:r>
              <a:rPr lang="pl-PL" dirty="0"/>
              <a:t>do boostingu obliczony został za pomocą </a:t>
            </a:r>
            <a:r>
              <a:rPr lang="pl-PL" dirty="0" smtClean="0"/>
              <a:t>pętli, testując różną ilość drzew stosowanych przez algorytm.</a:t>
            </a:r>
            <a:endParaRPr lang="pl-PL" dirty="0"/>
          </a:p>
        </p:txBody>
      </p:sp>
      <p:pic>
        <p:nvPicPr>
          <p:cNvPr id="5" name="Obraz 4"/>
          <p:cNvPicPr>
            <a:picLocks noChangeAspect="1"/>
          </p:cNvPicPr>
          <p:nvPr/>
        </p:nvPicPr>
        <p:blipFill>
          <a:blip r:embed="rId2"/>
          <a:stretch>
            <a:fillRect/>
          </a:stretch>
        </p:blipFill>
        <p:spPr>
          <a:xfrm>
            <a:off x="4427910" y="1340285"/>
            <a:ext cx="6192114" cy="1829055"/>
          </a:xfrm>
          <a:prstGeom prst="rect">
            <a:avLst/>
          </a:prstGeom>
        </p:spPr>
      </p:pic>
      <p:pic>
        <p:nvPicPr>
          <p:cNvPr id="6" name="Obraz 5"/>
          <p:cNvPicPr>
            <a:picLocks noChangeAspect="1"/>
          </p:cNvPicPr>
          <p:nvPr/>
        </p:nvPicPr>
        <p:blipFill>
          <a:blip r:embed="rId3"/>
          <a:stretch>
            <a:fillRect/>
          </a:stretch>
        </p:blipFill>
        <p:spPr>
          <a:xfrm>
            <a:off x="2295731" y="4661433"/>
            <a:ext cx="5658640" cy="1810003"/>
          </a:xfrm>
          <a:prstGeom prst="rect">
            <a:avLst/>
          </a:prstGeom>
        </p:spPr>
      </p:pic>
    </p:spTree>
    <p:extLst>
      <p:ext uri="{BB962C8B-B14F-4D97-AF65-F5344CB8AC3E}">
        <p14:creationId xmlns:p14="http://schemas.microsoft.com/office/powerpoint/2010/main" val="2953396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677333" y="350730"/>
            <a:ext cx="8754765" cy="1240076"/>
          </a:xfrm>
        </p:spPr>
        <p:txBody>
          <a:bodyPr/>
          <a:lstStyle/>
          <a:p>
            <a:pPr algn="ctr"/>
            <a:r>
              <a:rPr lang="pl-PL" dirty="0"/>
              <a:t>Weryfikacja jakości działania wybranego modelu</a:t>
            </a:r>
          </a:p>
        </p:txBody>
      </p:sp>
      <p:sp>
        <p:nvSpPr>
          <p:cNvPr id="3" name="Symbol zastępczy zawartości 2"/>
          <p:cNvSpPr>
            <a:spLocks noGrp="1"/>
          </p:cNvSpPr>
          <p:nvPr>
            <p:ph idx="1"/>
          </p:nvPr>
        </p:nvSpPr>
        <p:spPr>
          <a:xfrm>
            <a:off x="756381" y="1590806"/>
            <a:ext cx="8596668" cy="663879"/>
          </a:xfrm>
        </p:spPr>
        <p:txBody>
          <a:bodyPr/>
          <a:lstStyle/>
          <a:p>
            <a:pPr marL="0" indent="0">
              <a:buNone/>
            </a:pPr>
            <a:r>
              <a:rPr lang="pl-PL" dirty="0" smtClean="0"/>
              <a:t>	Finalnie osiągnęliśmy nasz cel – ponad 50% trafnej predykcji, tym samym straciliśmy na błędzie drugiego typu bo aż 33% całej próbki testowanej.</a:t>
            </a:r>
            <a:endParaRPr lang="pl-PL" dirty="0"/>
          </a:p>
        </p:txBody>
      </p:sp>
      <p:pic>
        <p:nvPicPr>
          <p:cNvPr id="4" name="Obraz 3"/>
          <p:cNvPicPr>
            <a:picLocks noChangeAspect="1"/>
          </p:cNvPicPr>
          <p:nvPr/>
        </p:nvPicPr>
        <p:blipFill>
          <a:blip r:embed="rId2"/>
          <a:stretch>
            <a:fillRect/>
          </a:stretch>
        </p:blipFill>
        <p:spPr>
          <a:xfrm>
            <a:off x="756381" y="2370654"/>
            <a:ext cx="5792008" cy="2248214"/>
          </a:xfrm>
          <a:prstGeom prst="rect">
            <a:avLst/>
          </a:prstGeom>
        </p:spPr>
      </p:pic>
      <p:pic>
        <p:nvPicPr>
          <p:cNvPr id="5" name="Obraz 4"/>
          <p:cNvPicPr>
            <a:picLocks noChangeAspect="1"/>
          </p:cNvPicPr>
          <p:nvPr/>
        </p:nvPicPr>
        <p:blipFill>
          <a:blip r:embed="rId3"/>
          <a:stretch>
            <a:fillRect/>
          </a:stretch>
        </p:blipFill>
        <p:spPr>
          <a:xfrm>
            <a:off x="7076084" y="3361393"/>
            <a:ext cx="1381318" cy="1257475"/>
          </a:xfrm>
          <a:prstGeom prst="rect">
            <a:avLst/>
          </a:prstGeom>
        </p:spPr>
      </p:pic>
      <p:sp>
        <p:nvSpPr>
          <p:cNvPr id="6" name="pole tekstowe 5"/>
          <p:cNvSpPr txBox="1"/>
          <p:nvPr/>
        </p:nvSpPr>
        <p:spPr>
          <a:xfrm>
            <a:off x="756381" y="4935682"/>
            <a:ext cx="7701021" cy="923330"/>
          </a:xfrm>
          <a:prstGeom prst="rect">
            <a:avLst/>
          </a:prstGeom>
          <a:noFill/>
        </p:spPr>
        <p:txBody>
          <a:bodyPr wrap="square" rtlCol="0">
            <a:spAutoFit/>
          </a:bodyPr>
          <a:lstStyle/>
          <a:p>
            <a:r>
              <a:rPr lang="pl-PL" dirty="0" smtClean="0"/>
              <a:t>Czułość mówi nam ile trafnych predykcji ma model, precyzja znaczy ile osłabieni modelu faktycznie nimi jest, a dokładność jest ogólnym procentem trafnych predykcji</a:t>
            </a:r>
            <a:endParaRPr lang="pl-PL" dirty="0"/>
          </a:p>
        </p:txBody>
      </p:sp>
    </p:spTree>
    <p:extLst>
      <p:ext uri="{BB962C8B-B14F-4D97-AF65-F5344CB8AC3E}">
        <p14:creationId xmlns:p14="http://schemas.microsoft.com/office/powerpoint/2010/main" val="4042263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677334" y="659703"/>
            <a:ext cx="8596668" cy="843420"/>
          </a:xfrm>
        </p:spPr>
        <p:txBody>
          <a:bodyPr>
            <a:normAutofit/>
          </a:bodyPr>
          <a:lstStyle/>
          <a:p>
            <a:r>
              <a:rPr lang="pl-PL" dirty="0" smtClean="0"/>
              <a:t>Podsumowanie</a:t>
            </a:r>
            <a:endParaRPr lang="pl-PL" dirty="0"/>
          </a:p>
        </p:txBody>
      </p:sp>
      <p:sp>
        <p:nvSpPr>
          <p:cNvPr id="3" name="Symbol zastępczy zawartości 2"/>
          <p:cNvSpPr>
            <a:spLocks noGrp="1"/>
          </p:cNvSpPr>
          <p:nvPr>
            <p:ph idx="1"/>
          </p:nvPr>
        </p:nvSpPr>
        <p:spPr>
          <a:xfrm>
            <a:off x="677334" y="1874056"/>
            <a:ext cx="8596668" cy="3236563"/>
          </a:xfrm>
        </p:spPr>
        <p:txBody>
          <a:bodyPr/>
          <a:lstStyle/>
          <a:p>
            <a:pPr marL="0" indent="0">
              <a:buNone/>
            </a:pPr>
            <a:r>
              <a:rPr lang="pl-PL" dirty="0" smtClean="0"/>
              <a:t>	Zbudowaliśmy model przewidujący osłabienia czempionów w grze League of Legends na podstawie statystyk z poprzednich patchy.</a:t>
            </a:r>
          </a:p>
          <a:p>
            <a:pPr marL="0" indent="0">
              <a:buNone/>
            </a:pPr>
            <a:r>
              <a:rPr lang="pl-PL" dirty="0"/>
              <a:t>	</a:t>
            </a:r>
            <a:r>
              <a:rPr lang="pl-PL" dirty="0" smtClean="0"/>
              <a:t>Wykorzystaliśmy algorytm C5.0, boosting oraz ważenie kosztów modelu.</a:t>
            </a:r>
          </a:p>
          <a:p>
            <a:pPr marL="0" indent="0">
              <a:buNone/>
            </a:pPr>
            <a:r>
              <a:rPr lang="pl-PL" dirty="0" smtClean="0"/>
              <a:t>Kluczowe problemy/elementy naszej pracy nad danymi/modelem:</a:t>
            </a:r>
          </a:p>
          <a:p>
            <a:r>
              <a:rPr lang="pl-PL" dirty="0" smtClean="0"/>
              <a:t>cechy opóźnione (informacje o 5 patchach wstecz),</a:t>
            </a:r>
          </a:p>
          <a:p>
            <a:r>
              <a:rPr lang="pl-PL" dirty="0"/>
              <a:t>e</a:t>
            </a:r>
            <a:r>
              <a:rPr lang="pl-PL" dirty="0" smtClean="0"/>
              <a:t>liminacja wycieku danych,</a:t>
            </a:r>
          </a:p>
          <a:p>
            <a:r>
              <a:rPr lang="pl-PL" dirty="0"/>
              <a:t>s</a:t>
            </a:r>
            <a:r>
              <a:rPr lang="pl-PL" dirty="0" smtClean="0"/>
              <a:t>kupienie się na trafnej predykcji osłabieni czempionów,</a:t>
            </a:r>
          </a:p>
          <a:p>
            <a:r>
              <a:rPr lang="pl-PL" dirty="0"/>
              <a:t>w</a:t>
            </a:r>
            <a:r>
              <a:rPr lang="pl-PL" dirty="0" smtClean="0"/>
              <a:t>ykorzystanie w pełni dostępnych nam narzędzi.</a:t>
            </a:r>
          </a:p>
          <a:p>
            <a:pPr marL="0" indent="0">
              <a:buNone/>
            </a:pPr>
            <a:endParaRPr lang="pl-PL" dirty="0" smtClean="0"/>
          </a:p>
        </p:txBody>
      </p:sp>
    </p:spTree>
    <p:extLst>
      <p:ext uri="{BB962C8B-B14F-4D97-AF65-F5344CB8AC3E}">
        <p14:creationId xmlns:p14="http://schemas.microsoft.com/office/powerpoint/2010/main" val="3382255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5C6B160-3F9D-4496-8AF3-A78450F5E1FD}"/>
              </a:ext>
            </a:extLst>
          </p:cNvPr>
          <p:cNvSpPr>
            <a:spLocks noGrp="1"/>
          </p:cNvSpPr>
          <p:nvPr>
            <p:ph type="title"/>
          </p:nvPr>
        </p:nvSpPr>
        <p:spPr>
          <a:xfrm>
            <a:off x="677334" y="609600"/>
            <a:ext cx="8596668" cy="677333"/>
          </a:xfrm>
        </p:spPr>
        <p:txBody>
          <a:bodyPr/>
          <a:lstStyle/>
          <a:p>
            <a:r>
              <a:rPr lang="pl-PL" dirty="0"/>
              <a:t>Źródła</a:t>
            </a:r>
          </a:p>
        </p:txBody>
      </p:sp>
      <p:sp>
        <p:nvSpPr>
          <p:cNvPr id="3" name="Symbol zastępczy zawartości 2">
            <a:extLst>
              <a:ext uri="{FF2B5EF4-FFF2-40B4-BE49-F238E27FC236}">
                <a16:creationId xmlns:a16="http://schemas.microsoft.com/office/drawing/2014/main" id="{200AB9D4-5557-40C5-AF66-11A9123066DA}"/>
              </a:ext>
            </a:extLst>
          </p:cNvPr>
          <p:cNvSpPr>
            <a:spLocks noGrp="1"/>
          </p:cNvSpPr>
          <p:nvPr>
            <p:ph idx="1"/>
          </p:nvPr>
        </p:nvSpPr>
        <p:spPr>
          <a:xfrm>
            <a:off x="677334" y="1286933"/>
            <a:ext cx="8596668" cy="4754429"/>
          </a:xfrm>
        </p:spPr>
        <p:txBody>
          <a:bodyPr/>
          <a:lstStyle/>
          <a:p>
            <a:r>
              <a:rPr lang="pl-PL" dirty="0"/>
              <a:t>leagueoflegends.com</a:t>
            </a:r>
          </a:p>
          <a:p>
            <a:r>
              <a:rPr lang="pl-PL" dirty="0"/>
              <a:t>kaggle.com/</a:t>
            </a:r>
            <a:r>
              <a:rPr lang="pl-PL" dirty="0" err="1"/>
              <a:t>datasets</a:t>
            </a:r>
            <a:endParaRPr lang="pl-PL" dirty="0"/>
          </a:p>
          <a:p>
            <a:r>
              <a:rPr lang="pl-PL" dirty="0"/>
              <a:t>op.gg</a:t>
            </a:r>
          </a:p>
          <a:p>
            <a:endParaRPr lang="pl-PL" dirty="0"/>
          </a:p>
          <a:p>
            <a:endParaRPr lang="pl-PL" dirty="0"/>
          </a:p>
        </p:txBody>
      </p:sp>
    </p:spTree>
    <p:extLst>
      <p:ext uri="{BB962C8B-B14F-4D97-AF65-F5344CB8AC3E}">
        <p14:creationId xmlns:p14="http://schemas.microsoft.com/office/powerpoint/2010/main" val="1585289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a:xfrm>
            <a:off x="1419385" y="1176984"/>
            <a:ext cx="7766936" cy="1646302"/>
          </a:xfrm>
        </p:spPr>
        <p:txBody>
          <a:bodyPr/>
          <a:lstStyle/>
          <a:p>
            <a:r>
              <a:rPr lang="pl-PL" dirty="0" smtClean="0"/>
              <a:t>Dziękujemy za uwagę</a:t>
            </a:r>
            <a:endParaRPr lang="pl-PL" dirty="0"/>
          </a:p>
        </p:txBody>
      </p:sp>
      <p:sp>
        <p:nvSpPr>
          <p:cNvPr id="4" name="Podtytuł 2">
            <a:extLst>
              <a:ext uri="{FF2B5EF4-FFF2-40B4-BE49-F238E27FC236}">
                <a16:creationId xmlns:a16="http://schemas.microsoft.com/office/drawing/2014/main" id="{4882C21D-36B5-43FE-B0BD-A8A2EF9F431C}"/>
              </a:ext>
            </a:extLst>
          </p:cNvPr>
          <p:cNvSpPr txBox="1">
            <a:spLocks/>
          </p:cNvSpPr>
          <p:nvPr/>
        </p:nvSpPr>
        <p:spPr>
          <a:xfrm>
            <a:off x="1419385" y="3947491"/>
            <a:ext cx="2446866" cy="1579503"/>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r>
              <a:rPr lang="pl-PL" dirty="0"/>
              <a:t>Przygotowany przez:</a:t>
            </a:r>
          </a:p>
          <a:p>
            <a:pPr algn="l"/>
            <a:r>
              <a:rPr lang="pl-PL" dirty="0"/>
              <a:t>-Kacper Bryda,</a:t>
            </a:r>
          </a:p>
          <a:p>
            <a:pPr algn="l"/>
            <a:r>
              <a:rPr lang="pl-PL" dirty="0"/>
              <a:t>-Sebastian Bąk,</a:t>
            </a:r>
          </a:p>
          <a:p>
            <a:pPr algn="l"/>
            <a:r>
              <a:rPr lang="pl-PL" dirty="0"/>
              <a:t>-Rafał Kiełbasa.</a:t>
            </a:r>
          </a:p>
        </p:txBody>
      </p:sp>
    </p:spTree>
    <p:extLst>
      <p:ext uri="{BB962C8B-B14F-4D97-AF65-F5344CB8AC3E}">
        <p14:creationId xmlns:p14="http://schemas.microsoft.com/office/powerpoint/2010/main" val="320135192"/>
      </p:ext>
    </p:extLst>
  </p:cSld>
  <p:clrMapOvr>
    <a:masterClrMapping/>
  </p:clrMapOvr>
</p:sld>
</file>

<file path=ppt/theme/theme1.xml><?xml version="1.0" encoding="utf-8"?>
<a:theme xmlns:a="http://schemas.openxmlformats.org/drawingml/2006/main" name="Faseta">
  <a:themeElements>
    <a:clrScheme name="Fas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s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s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257</TotalTime>
  <Words>527</Words>
  <Application>Microsoft Office PowerPoint</Application>
  <PresentationFormat>Panoramiczny</PresentationFormat>
  <Paragraphs>76</Paragraphs>
  <Slides>15</Slides>
  <Notes>0</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15</vt:i4>
      </vt:variant>
    </vt:vector>
  </HeadingPairs>
  <TitlesOfParts>
    <vt:vector size="19" baseType="lpstr">
      <vt:lpstr>Arial</vt:lpstr>
      <vt:lpstr>Trebuchet MS</vt:lpstr>
      <vt:lpstr>Wingdings 3</vt:lpstr>
      <vt:lpstr>Faseta</vt:lpstr>
      <vt:lpstr>Projekt ze Wstępu do Analizy Danych</vt:lpstr>
      <vt:lpstr>Spis treści</vt:lpstr>
      <vt:lpstr>Wprowadzenie</vt:lpstr>
      <vt:lpstr>Opis zbioru danych</vt:lpstr>
      <vt:lpstr>Przygotowanie zbioru danych do predykcji</vt:lpstr>
      <vt:lpstr>Cele analityczne i biznesowe</vt:lpstr>
      <vt:lpstr>Uzasadnienie odrzucenia innych modeli </vt:lpstr>
      <vt:lpstr>Prezentacja programu PowerPoint</vt:lpstr>
      <vt:lpstr>Uzasadnienie wyboru modelu</vt:lpstr>
      <vt:lpstr>Specyfikacja wybranego modelu</vt:lpstr>
      <vt:lpstr>Specyfikacja wybranego modelu cd.</vt:lpstr>
      <vt:lpstr>Weryfikacja jakości działania wybranego modelu</vt:lpstr>
      <vt:lpstr>Podsumowanie</vt:lpstr>
      <vt:lpstr>Źródła</vt:lpstr>
      <vt:lpstr>Dziękujemy za uwagę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 ze Wstępu do Analizy Danych</dc:title>
  <dc:creator>Maksymilian Świder</dc:creator>
  <cp:lastModifiedBy>Kacper Bryda</cp:lastModifiedBy>
  <cp:revision>18</cp:revision>
  <dcterms:created xsi:type="dcterms:W3CDTF">2026-01-14T14:06:28Z</dcterms:created>
  <dcterms:modified xsi:type="dcterms:W3CDTF">2026-01-16T11:38:46Z</dcterms:modified>
</cp:coreProperties>
</file>